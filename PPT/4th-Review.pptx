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tiff" ContentType="image/tif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2" r:id="rId1"/>
  </p:sldMasterIdLst>
  <p:notesMasterIdLst>
    <p:notesMasterId r:id="rId26"/>
  </p:notesMasterIdLst>
  <p:sldIdLst>
    <p:sldId id="256" r:id="rId2"/>
    <p:sldId id="274" r:id="rId3"/>
    <p:sldId id="257" r:id="rId4"/>
    <p:sldId id="284" r:id="rId5"/>
    <p:sldId id="258" r:id="rId6"/>
    <p:sldId id="261" r:id="rId7"/>
    <p:sldId id="262" r:id="rId8"/>
    <p:sldId id="260" r:id="rId9"/>
    <p:sldId id="263" r:id="rId10"/>
    <p:sldId id="265" r:id="rId11"/>
    <p:sldId id="266" r:id="rId12"/>
    <p:sldId id="273" r:id="rId13"/>
    <p:sldId id="272" r:id="rId14"/>
    <p:sldId id="275" r:id="rId15"/>
    <p:sldId id="270" r:id="rId16"/>
    <p:sldId id="276" r:id="rId17"/>
    <p:sldId id="277" r:id="rId18"/>
    <p:sldId id="278" r:id="rId19"/>
    <p:sldId id="282" r:id="rId20"/>
    <p:sldId id="279" r:id="rId21"/>
    <p:sldId id="280" r:id="rId22"/>
    <p:sldId id="281" r:id="rId23"/>
    <p:sldId id="283" r:id="rId24"/>
    <p:sldId id="27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3" autoAdjust="0"/>
    <p:restoredTop sz="94660" autoAdjust="0"/>
  </p:normalViewPr>
  <p:slideViewPr>
    <p:cSldViewPr snapToGrid="0">
      <p:cViewPr>
        <p:scale>
          <a:sx n="66" d="100"/>
          <a:sy n="66" d="100"/>
        </p:scale>
        <p:origin x="-668" y="-10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ECA27B-9CC8-4B71-8C5C-5C9153119125}" type="datetimeFigureOut">
              <a:rPr lang="en-US" smtClean="0"/>
              <a:pPr/>
              <a:t>4/4/2026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056E80-BC54-44A8-AF8B-93208B04CFC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46AFA4E-927A-401C-B9DD-7A8B64903885}" type="datetimeFigureOut">
              <a:rPr lang="en-IN" smtClean="0"/>
              <a:pPr/>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CB0FD6-846E-4FAF-B938-543A6BAA632D}"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6AFA4E-927A-401C-B9DD-7A8B64903885}" type="datetimeFigureOut">
              <a:rPr lang="en-IN" smtClean="0"/>
              <a:pPr/>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CB0FD6-846E-4FAF-B938-543A6BAA632D}"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46AFA4E-927A-401C-B9DD-7A8B64903885}" type="datetimeFigureOut">
              <a:rPr lang="en-IN" smtClean="0"/>
              <a:pPr/>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CB0FD6-846E-4FAF-B938-543A6BAA632D}"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46AFA4E-927A-401C-B9DD-7A8B64903885}" type="datetimeFigureOut">
              <a:rPr lang="en-IN" smtClean="0"/>
              <a:pPr/>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CB0FD6-846E-4FAF-B938-543A6BAA632D}"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46AFA4E-927A-401C-B9DD-7A8B64903885}" type="datetimeFigureOut">
              <a:rPr lang="en-IN" smtClean="0"/>
              <a:pPr/>
              <a:t>04-04-2026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CB0FD6-846E-4FAF-B938-543A6BAA632D}"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46AFA4E-927A-401C-B9DD-7A8B64903885}" type="datetimeFigureOut">
              <a:rPr lang="en-IN" smtClean="0"/>
              <a:pPr/>
              <a:t>04-04-2026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CB0FD6-846E-4FAF-B938-543A6BAA632D}"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6AFA4E-927A-401C-B9DD-7A8B64903885}" type="datetimeFigureOut">
              <a:rPr lang="en-IN" smtClean="0"/>
              <a:pPr/>
              <a:t>04-04-2026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CB0FD6-846E-4FAF-B938-543A6BAA632D}"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6AFA4E-927A-401C-B9DD-7A8B64903885}" type="datetimeFigureOut">
              <a:rPr lang="en-IN" smtClean="0"/>
              <a:pPr/>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CB0FD6-846E-4FAF-B938-543A6BAA632D}"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6AFA4E-927A-401C-B9DD-7A8B64903885}" type="datetimeFigureOut">
              <a:rPr lang="en-IN" smtClean="0"/>
              <a:pPr/>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CB0FD6-846E-4FAF-B938-543A6BAA632D}"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6AFA4E-927A-401C-B9DD-7A8B64903885}" type="datetimeFigureOut">
              <a:rPr lang="en-IN" smtClean="0"/>
              <a:pPr/>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CB0FD6-846E-4FAF-B938-543A6BAA632D}"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6AFA4E-927A-401C-B9DD-7A8B64903885}" type="datetimeFigureOut">
              <a:rPr lang="en-IN" smtClean="0"/>
              <a:pPr/>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CB0FD6-846E-4FAF-B938-543A6BAA632D}"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6AFA4E-927A-401C-B9DD-7A8B64903885}" type="datetimeFigureOut">
              <a:rPr lang="en-IN" smtClean="0"/>
              <a:pPr/>
              <a:t>04-04-2026</a:t>
            </a:fld>
            <a:endParaRPr lang="en-IN"/>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CB0FD6-846E-4FAF-B938-543A6BAA632D}"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tif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ITS-UTUKUR-Kadapa-Logo-new">
            <a:extLst>
              <a:ext uri="{FF2B5EF4-FFF2-40B4-BE49-F238E27FC236}">
                <a16:creationId xmlns="" xmlns:a16="http://schemas.microsoft.com/office/drawing/2014/main" id="{94FCEC17-65D2-9338-3787-3971556A7799}"/>
              </a:ext>
            </a:extLst>
          </p:cNvPr>
          <p:cNvPicPr>
            <a:picLocks noChangeAspect="1"/>
          </p:cNvPicPr>
          <p:nvPr/>
        </p:nvPicPr>
        <p:blipFill rotWithShape="1">
          <a:blip r:embed="rId2" cstate="print"/>
          <a:srcRect l="-1" r="89952"/>
          <a:stretch/>
        </p:blipFill>
        <p:spPr>
          <a:xfrm>
            <a:off x="451666" y="574355"/>
            <a:ext cx="1021535" cy="1105887"/>
          </a:xfrm>
          <a:prstGeom prst="rect">
            <a:avLst/>
          </a:prstGeom>
        </p:spPr>
      </p:pic>
      <p:pic>
        <p:nvPicPr>
          <p:cNvPr id="5" name="Picture 4" descr="AITS-UTUKUR-Kadapa-Logo-new">
            <a:extLst>
              <a:ext uri="{FF2B5EF4-FFF2-40B4-BE49-F238E27FC236}">
                <a16:creationId xmlns="" xmlns:a16="http://schemas.microsoft.com/office/drawing/2014/main" id="{94FCEC17-65D2-9338-3787-3971556A7799}"/>
              </a:ext>
            </a:extLst>
          </p:cNvPr>
          <p:cNvPicPr>
            <a:picLocks noChangeAspect="1"/>
          </p:cNvPicPr>
          <p:nvPr/>
        </p:nvPicPr>
        <p:blipFill rotWithShape="1">
          <a:blip r:embed="rId2" cstate="print"/>
          <a:srcRect l="65490" r="23244"/>
          <a:stretch/>
        </p:blipFill>
        <p:spPr>
          <a:xfrm>
            <a:off x="9742666" y="508012"/>
            <a:ext cx="1331735" cy="1282688"/>
          </a:xfrm>
          <a:prstGeom prst="rect">
            <a:avLst/>
          </a:prstGeom>
        </p:spPr>
      </p:pic>
      <p:sp>
        <p:nvSpPr>
          <p:cNvPr id="7" name="TextBox 6">
            <a:extLst>
              <a:ext uri="{FF2B5EF4-FFF2-40B4-BE49-F238E27FC236}">
                <a16:creationId xmlns="" xmlns:a16="http://schemas.microsoft.com/office/drawing/2014/main" id="{5A708140-09E5-0ED2-ABEF-DA1951227940}"/>
              </a:ext>
            </a:extLst>
          </p:cNvPr>
          <p:cNvSpPr txBox="1"/>
          <p:nvPr/>
        </p:nvSpPr>
        <p:spPr>
          <a:xfrm flipH="1">
            <a:off x="673101" y="266702"/>
            <a:ext cx="11087100" cy="1508105"/>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ANNAMACHARYA INSTITUTE OF TECHNOLOGY </a:t>
            </a:r>
            <a:r>
              <a:rPr lang="en-US" sz="2400" b="1" dirty="0" smtClean="0">
                <a:latin typeface="Times New Roman" pitchFamily="18" charset="0"/>
                <a:cs typeface="Times New Roman" pitchFamily="18" charset="0"/>
              </a:rPr>
              <a:t>AND </a:t>
            </a:r>
            <a:r>
              <a:rPr lang="en-US" sz="2400" b="1" dirty="0">
                <a:latin typeface="Times New Roman" pitchFamily="18" charset="0"/>
                <a:cs typeface="Times New Roman" pitchFamily="18" charset="0"/>
              </a:rPr>
              <a:t>SCIENCES</a:t>
            </a:r>
          </a:p>
          <a:p>
            <a:pPr algn="ctr"/>
            <a:r>
              <a:rPr lang="en-US" sz="2000" b="1" dirty="0">
                <a:latin typeface="Times New Roman" pitchFamily="18" charset="0"/>
                <a:cs typeface="Times New Roman" pitchFamily="18" charset="0"/>
              </a:rPr>
              <a:t>UTUKUR (P), C. K. DINNE (V&amp;M), KADAPA, YSR DIST.</a:t>
            </a:r>
          </a:p>
          <a:p>
            <a:pPr algn="ctr"/>
            <a:r>
              <a:rPr lang="en-US" sz="1600" dirty="0">
                <a:latin typeface="Times New Roman" pitchFamily="18" charset="0"/>
                <a:cs typeface="Times New Roman" pitchFamily="18" charset="0"/>
              </a:rPr>
              <a:t>Approved by AICTE, New Delhi &amp; Affiliated to JNTUA, Anantapuramu.</a:t>
            </a:r>
          </a:p>
          <a:p>
            <a:pPr algn="ctr"/>
            <a:r>
              <a:rPr lang="en-US" sz="1600" dirty="0">
                <a:latin typeface="Times New Roman" pitchFamily="18" charset="0"/>
                <a:cs typeface="Times New Roman" pitchFamily="18" charset="0"/>
              </a:rPr>
              <a:t>Approved by S.B.T.E.T. Andhra Pradesh.</a:t>
            </a:r>
          </a:p>
          <a:p>
            <a:pPr algn="ctr"/>
            <a:r>
              <a:rPr lang="en-US" sz="1600" dirty="0">
                <a:latin typeface="Times New Roman" pitchFamily="18" charset="0"/>
                <a:cs typeface="Times New Roman" pitchFamily="18" charset="0"/>
              </a:rPr>
              <a:t>Accredited by NAAC with ‘A’ Grade, Bangalore &amp; NBA (EEE, ECE &amp;CSE)</a:t>
            </a:r>
            <a:endParaRPr lang="en-IN" sz="1200" dirty="0">
              <a:latin typeface="Times New Roman" pitchFamily="18" charset="0"/>
              <a:cs typeface="Times New Roman" pitchFamily="18" charset="0"/>
            </a:endParaRPr>
          </a:p>
        </p:txBody>
      </p:sp>
      <p:sp>
        <p:nvSpPr>
          <p:cNvPr id="12" name="TextBox 11">
            <a:extLst>
              <a:ext uri="{FF2B5EF4-FFF2-40B4-BE49-F238E27FC236}">
                <a16:creationId xmlns="" xmlns:a16="http://schemas.microsoft.com/office/drawing/2014/main" id="{07C3F33B-8651-C84C-B74C-73E6D33A5020}"/>
              </a:ext>
            </a:extLst>
          </p:cNvPr>
          <p:cNvSpPr txBox="1"/>
          <p:nvPr/>
        </p:nvSpPr>
        <p:spPr>
          <a:xfrm>
            <a:off x="485192" y="2341984"/>
            <a:ext cx="11168743" cy="1938992"/>
          </a:xfrm>
          <a:prstGeom prst="rect">
            <a:avLst/>
          </a:prstGeom>
          <a:noFill/>
        </p:spPr>
        <p:txBody>
          <a:bodyPr wrap="square" rtlCol="0">
            <a:spAutoFit/>
          </a:bodyPr>
          <a:lstStyle/>
          <a:p>
            <a:pPr algn="ctr"/>
            <a:r>
              <a:rPr lang="en-US" sz="4000" dirty="0" smtClean="0">
                <a:latin typeface="Times New Roman" pitchFamily="18" charset="0"/>
                <a:cs typeface="Times New Roman" pitchFamily="18" charset="0"/>
              </a:rPr>
              <a:t>Design of Hamming Code Encoding and Decoding Based on Clock Gating Technique</a:t>
            </a:r>
          </a:p>
          <a:p>
            <a:pPr algn="ctr"/>
            <a:endParaRPr lang="en-US" sz="4000" dirty="0"/>
          </a:p>
        </p:txBody>
      </p:sp>
      <p:graphicFrame>
        <p:nvGraphicFramePr>
          <p:cNvPr id="13" name="Table 13">
            <a:extLst>
              <a:ext uri="{FF2B5EF4-FFF2-40B4-BE49-F238E27FC236}">
                <a16:creationId xmlns="" xmlns:a16="http://schemas.microsoft.com/office/drawing/2014/main" id="{43801A7D-DDA9-16C4-738C-0E7E42D99E82}"/>
              </a:ext>
            </a:extLst>
          </p:cNvPr>
          <p:cNvGraphicFramePr>
            <a:graphicFrameLocks noGrp="1"/>
          </p:cNvGraphicFramePr>
          <p:nvPr>
            <p:extLst>
              <p:ext uri="{D42A27DB-BD31-4B8C-83A1-F6EECF244321}">
                <p14:modId xmlns="" xmlns:p14="http://schemas.microsoft.com/office/powerpoint/2010/main" val="3569485260"/>
              </p:ext>
            </p:extLst>
          </p:nvPr>
        </p:nvGraphicFramePr>
        <p:xfrm>
          <a:off x="347474" y="4608543"/>
          <a:ext cx="5230719" cy="1854200"/>
        </p:xfrm>
        <a:graphic>
          <a:graphicData uri="http://schemas.openxmlformats.org/drawingml/2006/table">
            <a:tbl>
              <a:tblPr firstRow="1" bandRow="1">
                <a:tableStyleId>{2D5ABB26-0587-4C30-8999-92F81FD0307C}</a:tableStyleId>
              </a:tblPr>
              <a:tblGrid>
                <a:gridCol w="3294343">
                  <a:extLst>
                    <a:ext uri="{9D8B030D-6E8A-4147-A177-3AD203B41FA5}">
                      <a16:colId xmlns="" xmlns:a16="http://schemas.microsoft.com/office/drawing/2014/main" val="560847610"/>
                    </a:ext>
                  </a:extLst>
                </a:gridCol>
                <a:gridCol w="1936376">
                  <a:extLst>
                    <a:ext uri="{9D8B030D-6E8A-4147-A177-3AD203B41FA5}">
                      <a16:colId xmlns="" xmlns:a16="http://schemas.microsoft.com/office/drawing/2014/main" val="121568351"/>
                    </a:ext>
                  </a:extLst>
                </a:gridCol>
              </a:tblGrid>
              <a:tr h="370840">
                <a:tc>
                  <a:txBody>
                    <a:bodyPr/>
                    <a:lstStyle/>
                    <a:p>
                      <a:r>
                        <a:rPr lang="en-US" b="1" dirty="0" smtClean="0">
                          <a:solidFill>
                            <a:schemeClr val="tx1"/>
                          </a:solidFill>
                          <a:latin typeface="Times New Roman" panose="02020603050405020304" pitchFamily="18" charset="0"/>
                          <a:cs typeface="Times New Roman" panose="02020603050405020304" pitchFamily="18" charset="0"/>
                        </a:rPr>
                        <a:t>Presented by:</a:t>
                      </a:r>
                      <a:endParaRPr lang="en-IN" b="1" dirty="0">
                        <a:solidFill>
                          <a:schemeClr val="tx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361666709"/>
                  </a:ext>
                </a:extLst>
              </a:tr>
              <a:tr h="370840">
                <a:tc>
                  <a:txBody>
                    <a:bodyPr/>
                    <a:lstStyle/>
                    <a:p>
                      <a:r>
                        <a:rPr lang="en-US" smtClean="0">
                          <a:solidFill>
                            <a:schemeClr val="tx1"/>
                          </a:solidFill>
                          <a:latin typeface="Times New Roman" panose="02020603050405020304" pitchFamily="18" charset="0"/>
                          <a:cs typeface="Times New Roman" panose="02020603050405020304" pitchFamily="18" charset="0"/>
                        </a:rPr>
                        <a:t>P. Sruthi</a:t>
                      </a:r>
                      <a:endParaRPr lang="en-IN"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mtClean="0">
                          <a:solidFill>
                            <a:schemeClr val="tx1"/>
                          </a:solidFill>
                          <a:latin typeface="Times New Roman" panose="02020603050405020304" pitchFamily="18" charset="0"/>
                          <a:cs typeface="Times New Roman" panose="02020603050405020304" pitchFamily="18" charset="0"/>
                        </a:rPr>
                        <a:t>22HM1A0447</a:t>
                      </a:r>
                      <a:endParaRPr lang="en-IN"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775608065"/>
                  </a:ext>
                </a:extLst>
              </a:tr>
              <a:tr h="370840">
                <a:tc>
                  <a:txBody>
                    <a:bodyPr/>
                    <a:lstStyle/>
                    <a:p>
                      <a:r>
                        <a:rPr lang="en-US" dirty="0" smtClean="0">
                          <a:solidFill>
                            <a:schemeClr val="tx1"/>
                          </a:solidFill>
                          <a:latin typeface="Times New Roman" panose="02020603050405020304" pitchFamily="18" charset="0"/>
                          <a:cs typeface="Times New Roman" panose="02020603050405020304" pitchFamily="18" charset="0"/>
                        </a:rPr>
                        <a:t>T. Harshitha</a:t>
                      </a:r>
                      <a:endParaRPr lang="en-IN"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dirty="0" smtClean="0">
                          <a:solidFill>
                            <a:schemeClr val="tx1"/>
                          </a:solidFill>
                          <a:latin typeface="Times New Roman" panose="02020603050405020304" pitchFamily="18" charset="0"/>
                          <a:cs typeface="Times New Roman" panose="02020603050405020304" pitchFamily="18" charset="0"/>
                        </a:rPr>
                        <a:t>22HM1A0463</a:t>
                      </a:r>
                      <a:endParaRPr lang="en-IN"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11361731"/>
                  </a:ext>
                </a:extLst>
              </a:tr>
              <a:tr h="370840">
                <a:tc>
                  <a:txBody>
                    <a:bodyPr/>
                    <a:lstStyle/>
                    <a:p>
                      <a:r>
                        <a:rPr lang="en-US" dirty="0" smtClean="0">
                          <a:solidFill>
                            <a:schemeClr val="tx1"/>
                          </a:solidFill>
                          <a:latin typeface="Times New Roman" panose="02020603050405020304" pitchFamily="18" charset="0"/>
                          <a:cs typeface="Times New Roman" panose="02020603050405020304" pitchFamily="18" charset="0"/>
                        </a:rPr>
                        <a:t>P. Sandya</a:t>
                      </a:r>
                      <a:endParaRPr lang="en-IN"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dirty="0" smtClean="0">
                          <a:solidFill>
                            <a:schemeClr val="tx1"/>
                          </a:solidFill>
                          <a:latin typeface="Times New Roman" panose="02020603050405020304" pitchFamily="18" charset="0"/>
                          <a:cs typeface="Times New Roman" panose="02020603050405020304" pitchFamily="18" charset="0"/>
                        </a:rPr>
                        <a:t>22HM1A0446</a:t>
                      </a:r>
                      <a:endParaRPr lang="en-IN"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835833711"/>
                  </a:ext>
                </a:extLst>
              </a:tr>
              <a:tr h="370840">
                <a:tc>
                  <a:txBody>
                    <a:bodyPr/>
                    <a:lstStyle/>
                    <a:p>
                      <a:r>
                        <a:rPr lang="en-US" dirty="0" smtClean="0">
                          <a:solidFill>
                            <a:schemeClr val="tx1"/>
                          </a:solidFill>
                          <a:latin typeface="Times New Roman" panose="02020603050405020304" pitchFamily="18" charset="0"/>
                          <a:cs typeface="Times New Roman" panose="02020603050405020304" pitchFamily="18" charset="0"/>
                        </a:rPr>
                        <a:t>P. V. Deepak</a:t>
                      </a:r>
                      <a:endParaRPr lang="en-IN"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dirty="0" smtClean="0">
                          <a:solidFill>
                            <a:schemeClr val="tx1"/>
                          </a:solidFill>
                          <a:latin typeface="Times New Roman" panose="02020603050405020304" pitchFamily="18" charset="0"/>
                          <a:cs typeface="Times New Roman" panose="02020603050405020304" pitchFamily="18" charset="0"/>
                        </a:rPr>
                        <a:t>22HM1A0442</a:t>
                      </a:r>
                      <a:endParaRPr lang="en-IN"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342204744"/>
                  </a:ext>
                </a:extLst>
              </a:tr>
            </a:tbl>
          </a:graphicData>
        </a:graphic>
      </p:graphicFrame>
      <p:graphicFrame>
        <p:nvGraphicFramePr>
          <p:cNvPr id="14" name="Table 13">
            <a:extLst>
              <a:ext uri="{FF2B5EF4-FFF2-40B4-BE49-F238E27FC236}">
                <a16:creationId xmlns="" xmlns:a16="http://schemas.microsoft.com/office/drawing/2014/main" id="{AA131912-A360-4DA7-D02F-BD27C41EBDE4}"/>
              </a:ext>
            </a:extLst>
          </p:cNvPr>
          <p:cNvGraphicFramePr>
            <a:graphicFrameLocks noGrp="1"/>
          </p:cNvGraphicFramePr>
          <p:nvPr>
            <p:extLst>
              <p:ext uri="{D42A27DB-BD31-4B8C-83A1-F6EECF244321}">
                <p14:modId xmlns="" xmlns:p14="http://schemas.microsoft.com/office/powerpoint/2010/main" val="1365787232"/>
              </p:ext>
            </p:extLst>
          </p:nvPr>
        </p:nvGraphicFramePr>
        <p:xfrm>
          <a:off x="8114097" y="5238256"/>
          <a:ext cx="3607275" cy="1112520"/>
        </p:xfrm>
        <a:graphic>
          <a:graphicData uri="http://schemas.openxmlformats.org/drawingml/2006/table">
            <a:tbl>
              <a:tblPr firstRow="1" bandRow="1">
                <a:tableStyleId>{2D5ABB26-0587-4C30-8999-92F81FD0307C}</a:tableStyleId>
              </a:tblPr>
              <a:tblGrid>
                <a:gridCol w="3607275">
                  <a:extLst>
                    <a:ext uri="{9D8B030D-6E8A-4147-A177-3AD203B41FA5}">
                      <a16:colId xmlns="" xmlns:a16="http://schemas.microsoft.com/office/drawing/2014/main" val="2394674166"/>
                    </a:ext>
                  </a:extLst>
                </a:gridCol>
              </a:tblGrid>
              <a:tr h="370840">
                <a:tc>
                  <a:txBody>
                    <a:bodyPr/>
                    <a:lstStyle/>
                    <a:p>
                      <a:r>
                        <a:rPr lang="en-US" b="1" dirty="0">
                          <a:solidFill>
                            <a:schemeClr val="tx1"/>
                          </a:solidFill>
                          <a:latin typeface="Times New Roman" panose="02020603050405020304" pitchFamily="18" charset="0"/>
                          <a:cs typeface="Times New Roman" panose="02020603050405020304" pitchFamily="18" charset="0"/>
                        </a:rPr>
                        <a:t>Under Guidance of:</a:t>
                      </a:r>
                      <a:endParaRPr lang="en-IN" b="1"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041381822"/>
                  </a:ext>
                </a:extLst>
              </a:tr>
              <a:tr h="370840">
                <a:tc>
                  <a:txBody>
                    <a:bodyPr/>
                    <a:lstStyle/>
                    <a:p>
                      <a:r>
                        <a:rPr lang="en-US" dirty="0" smtClean="0">
                          <a:solidFill>
                            <a:schemeClr val="tx1"/>
                          </a:solidFill>
                          <a:latin typeface="Times New Roman" panose="02020603050405020304" pitchFamily="18" charset="0"/>
                          <a:cs typeface="Times New Roman" panose="02020603050405020304" pitchFamily="18" charset="0"/>
                        </a:rPr>
                        <a:t>Dr. O. </a:t>
                      </a:r>
                      <a:r>
                        <a:rPr lang="en-US" dirty="0" err="1" smtClean="0">
                          <a:solidFill>
                            <a:schemeClr val="tx1"/>
                          </a:solidFill>
                          <a:latin typeface="Times New Roman" panose="02020603050405020304" pitchFamily="18" charset="0"/>
                          <a:cs typeface="Times New Roman" panose="02020603050405020304" pitchFamily="18" charset="0"/>
                        </a:rPr>
                        <a:t>Homa</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Kesav</a:t>
                      </a:r>
                      <a:r>
                        <a:rPr lang="en-US" dirty="0" smtClean="0">
                          <a:solidFill>
                            <a:schemeClr val="tx1"/>
                          </a:solidFill>
                          <a:latin typeface="Times New Roman" panose="02020603050405020304" pitchFamily="18" charset="0"/>
                          <a:cs typeface="Times New Roman" panose="02020603050405020304" pitchFamily="18" charset="0"/>
                        </a:rPr>
                        <a:t> , </a:t>
                      </a:r>
                      <a:r>
                        <a:rPr lang="en-US" sz="1400" dirty="0" err="1" smtClean="0">
                          <a:solidFill>
                            <a:schemeClr val="tx1"/>
                          </a:solidFill>
                          <a:latin typeface="Times New Roman" panose="02020603050405020304" pitchFamily="18" charset="0"/>
                          <a:cs typeface="Times New Roman" panose="02020603050405020304" pitchFamily="18" charset="0"/>
                        </a:rPr>
                        <a:t>M.Tech</a:t>
                      </a:r>
                      <a:r>
                        <a:rPr lang="en-US" sz="1400" dirty="0" smtClean="0">
                          <a:solidFill>
                            <a:schemeClr val="tx1"/>
                          </a:solidFill>
                          <a:latin typeface="Times New Roman" panose="02020603050405020304" pitchFamily="18" charset="0"/>
                          <a:cs typeface="Times New Roman" panose="02020603050405020304" pitchFamily="18" charset="0"/>
                        </a:rPr>
                        <a:t>.,</a:t>
                      </a:r>
                      <a:r>
                        <a:rPr lang="en-US" sz="1400" baseline="0" dirty="0" smtClean="0">
                          <a:solidFill>
                            <a:schemeClr val="tx1"/>
                          </a:solidFill>
                          <a:latin typeface="Times New Roman" panose="02020603050405020304" pitchFamily="18" charset="0"/>
                          <a:cs typeface="Times New Roman" panose="02020603050405020304" pitchFamily="18" charset="0"/>
                        </a:rPr>
                        <a:t> (</a:t>
                      </a:r>
                      <a:r>
                        <a:rPr lang="en-US" sz="1400" baseline="0" dirty="0" err="1" smtClean="0">
                          <a:solidFill>
                            <a:schemeClr val="tx1"/>
                          </a:solidFill>
                          <a:latin typeface="Times New Roman" panose="02020603050405020304" pitchFamily="18" charset="0"/>
                          <a:cs typeface="Times New Roman" panose="02020603050405020304" pitchFamily="18" charset="0"/>
                        </a:rPr>
                        <a:t>Ph.D</a:t>
                      </a:r>
                      <a:r>
                        <a:rPr lang="en-US" sz="1400" baseline="0" dirty="0" smtClean="0">
                          <a:solidFill>
                            <a:schemeClr val="tx1"/>
                          </a:solidFill>
                          <a:latin typeface="Times New Roman" panose="02020603050405020304" pitchFamily="18" charset="0"/>
                          <a:cs typeface="Times New Roman" panose="02020603050405020304" pitchFamily="18" charset="0"/>
                        </a:rPr>
                        <a:t>) &amp;</a:t>
                      </a:r>
                      <a:endParaRPr lang="en-US" sz="1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085750765"/>
                  </a:ext>
                </a:extLst>
              </a:tr>
              <a:tr h="370840">
                <a:tc>
                  <a:txBody>
                    <a:bodyPr/>
                    <a:lstStyle/>
                    <a:p>
                      <a:r>
                        <a:rPr lang="en-IN" dirty="0" smtClean="0">
                          <a:solidFill>
                            <a:schemeClr val="tx1"/>
                          </a:solidFill>
                          <a:latin typeface="Times New Roman" panose="02020603050405020304" pitchFamily="18" charset="0"/>
                          <a:cs typeface="Times New Roman" panose="02020603050405020304" pitchFamily="18" charset="0"/>
                        </a:rPr>
                        <a:t>Associate</a:t>
                      </a:r>
                      <a:r>
                        <a:rPr lang="en-IN" baseline="0" dirty="0" smtClean="0">
                          <a:solidFill>
                            <a:schemeClr val="tx1"/>
                          </a:solidFill>
                          <a:latin typeface="Times New Roman" panose="02020603050405020304" pitchFamily="18" charset="0"/>
                          <a:cs typeface="Times New Roman" panose="02020603050405020304" pitchFamily="18" charset="0"/>
                        </a:rPr>
                        <a:t> Professor</a:t>
                      </a:r>
                      <a:endParaRPr lang="en-US"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948544654"/>
                  </a:ext>
                </a:extLst>
              </a:tr>
            </a:tbl>
          </a:graphicData>
        </a:graphic>
      </p:graphicFrame>
      <p:pic>
        <p:nvPicPr>
          <p:cNvPr id="13316" name="Picture 4" descr="NBA Accreditation SBCE"/>
          <p:cNvPicPr>
            <a:picLocks noChangeAspect="1" noChangeArrowheads="1"/>
          </p:cNvPicPr>
          <p:nvPr/>
        </p:nvPicPr>
        <p:blipFill>
          <a:blip r:embed="rId3" cstate="print"/>
          <a:srcRect/>
          <a:stretch>
            <a:fillRect/>
          </a:stretch>
        </p:blipFill>
        <p:spPr bwMode="auto">
          <a:xfrm>
            <a:off x="11049001" y="645104"/>
            <a:ext cx="1181100" cy="1103451"/>
          </a:xfrm>
          <a:prstGeom prst="rect">
            <a:avLst/>
          </a:prstGeom>
          <a:noFill/>
        </p:spPr>
      </p:pic>
    </p:spTree>
    <p:extLst>
      <p:ext uri="{BB962C8B-B14F-4D97-AF65-F5344CB8AC3E}">
        <p14:creationId xmlns="" xmlns:p14="http://schemas.microsoft.com/office/powerpoint/2010/main" val="86755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chemeClr val="tx2">
                    <a:lumMod val="60000"/>
                    <a:lumOff val="40000"/>
                  </a:schemeClr>
                </a:solidFill>
                <a:latin typeface="Times New Roman" pitchFamily="18" charset="0"/>
                <a:cs typeface="Times New Roman" pitchFamily="18" charset="0"/>
              </a:rPr>
              <a:t>ABSTRACT</a:t>
            </a:r>
            <a:endParaRPr lang="en-US" b="1" i="1" dirty="0">
              <a:solidFill>
                <a:schemeClr val="tx2">
                  <a:lumMod val="60000"/>
                  <a:lumOff val="40000"/>
                </a:schemeClr>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Hamming code is widely used for error detection and correction in digital systems. However, conventional designs suffer from high power consumption due to continuous switching activity. Clock gating reduces power but still has limitations. This project proposes a reversible logic-based Hamming encoder and decoder to reduce power and delay. The design is implemented using Verilog HDL and simulated in Vivado. Results show improved power efficiency and performance compared to existing methods. </a:t>
            </a:r>
          </a:p>
          <a:p>
            <a:endParaRPr lang="en-US"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i="1" dirty="0" smtClean="0">
                <a:solidFill>
                  <a:schemeClr val="accent1"/>
                </a:solidFill>
                <a:latin typeface="Times New Roman" pitchFamily="18" charset="0"/>
                <a:cs typeface="Times New Roman" pitchFamily="18" charset="0"/>
              </a:rPr>
              <a:t>INTRODUCTION </a:t>
            </a:r>
            <a:r>
              <a:rPr lang="en-US" b="1" i="1" dirty="0" smtClean="0">
                <a:solidFill>
                  <a:schemeClr val="accent1"/>
                </a:solidFill>
                <a:latin typeface="Times New Roman" pitchFamily="18" charset="0"/>
                <a:cs typeface="Times New Roman" pitchFamily="18" charset="0"/>
              </a:rPr>
              <a:t>&amp;SCOPE</a:t>
            </a:r>
            <a:endParaRPr lang="en-US" dirty="0">
              <a:solidFill>
                <a:schemeClr val="accent1"/>
              </a:solidFill>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fontScale="92500" lnSpcReduction="20000"/>
          </a:bodyPr>
          <a:lstStyle/>
          <a:p>
            <a:r>
              <a:rPr lang="en-US" dirty="0" smtClean="0">
                <a:latin typeface="Times New Roman" pitchFamily="18" charset="0"/>
                <a:cs typeface="Times New Roman" pitchFamily="18" charset="0"/>
              </a:rPr>
              <a:t>Digital systems require reliable data transmission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Errors </a:t>
            </a:r>
            <a:r>
              <a:rPr lang="en-US" dirty="0" smtClean="0">
                <a:latin typeface="Times New Roman" pitchFamily="18" charset="0"/>
                <a:cs typeface="Times New Roman" pitchFamily="18" charset="0"/>
              </a:rPr>
              <a:t>occur due to noise, interference, </a:t>
            </a:r>
            <a:r>
              <a:rPr lang="en-US" dirty="0" smtClean="0">
                <a:latin typeface="Times New Roman" pitchFamily="18" charset="0"/>
                <a:cs typeface="Times New Roman" pitchFamily="18" charset="0"/>
              </a:rPr>
              <a:t>faults</a:t>
            </a:r>
          </a:p>
          <a:p>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Hamming code provides: </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Single-bit </a:t>
            </a:r>
            <a:r>
              <a:rPr lang="en-US" dirty="0" smtClean="0">
                <a:latin typeface="Times New Roman" pitchFamily="18" charset="0"/>
                <a:cs typeface="Times New Roman" pitchFamily="18" charset="0"/>
              </a:rPr>
              <a:t>error correction </a:t>
            </a:r>
          </a:p>
          <a:p>
            <a:pPr>
              <a:buNone/>
            </a:pPr>
            <a:r>
              <a:rPr lang="en-US" dirty="0" smtClean="0">
                <a:latin typeface="Times New Roman" pitchFamily="18" charset="0"/>
                <a:cs typeface="Times New Roman" pitchFamily="18" charset="0"/>
              </a:rPr>
              <a:t>          Double-bit </a:t>
            </a:r>
            <a:r>
              <a:rPr lang="en-US" dirty="0" smtClean="0">
                <a:latin typeface="Times New Roman" pitchFamily="18" charset="0"/>
                <a:cs typeface="Times New Roman" pitchFamily="18" charset="0"/>
              </a:rPr>
              <a:t>error detection </a:t>
            </a:r>
          </a:p>
          <a:p>
            <a:r>
              <a:rPr lang="en-US" dirty="0" smtClean="0">
                <a:latin typeface="Times New Roman" pitchFamily="18" charset="0"/>
                <a:cs typeface="Times New Roman" pitchFamily="18" charset="0"/>
              </a:rPr>
              <a:t>Used in</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Memory systems </a:t>
            </a:r>
          </a:p>
          <a:p>
            <a:r>
              <a:rPr lang="en-US" dirty="0" smtClean="0">
                <a:latin typeface="Times New Roman" pitchFamily="18" charset="0"/>
                <a:cs typeface="Times New Roman" pitchFamily="18" charset="0"/>
              </a:rPr>
              <a:t>Communication systems </a:t>
            </a:r>
          </a:p>
          <a:p>
            <a:r>
              <a:rPr lang="en-US" dirty="0" smtClean="0">
                <a:latin typeface="Times New Roman" pitchFamily="18" charset="0"/>
                <a:cs typeface="Times New Roman" pitchFamily="18" charset="0"/>
              </a:rPr>
              <a:t>Embedded systems </a:t>
            </a:r>
            <a:endParaRPr lang="en-US"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chemeClr val="tx2">
                    <a:lumMod val="60000"/>
                    <a:lumOff val="40000"/>
                  </a:schemeClr>
                </a:solidFill>
                <a:latin typeface="Times New Roman" pitchFamily="18" charset="0"/>
                <a:cs typeface="Times New Roman" pitchFamily="18" charset="0"/>
              </a:rPr>
              <a:t>LITERATURE SURVEY</a:t>
            </a:r>
            <a:endParaRPr lang="en-US" b="1" i="1" dirty="0">
              <a:solidFill>
                <a:schemeClr val="tx2">
                  <a:lumMod val="60000"/>
                  <a:lumOff val="40000"/>
                </a:schemeClr>
              </a:solidFill>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609600" y="1600200"/>
          <a:ext cx="10972800" cy="3845560"/>
        </p:xfrm>
        <a:graphic>
          <a:graphicData uri="http://schemas.openxmlformats.org/drawingml/2006/table">
            <a:tbl>
              <a:tblPr firstRow="1" bandRow="1">
                <a:tableStyleId>{5C22544A-7EE6-4342-B048-85BDC9FD1C3A}</a:tableStyleId>
              </a:tblPr>
              <a:tblGrid>
                <a:gridCol w="1219200"/>
                <a:gridCol w="4267200"/>
                <a:gridCol w="2743200"/>
                <a:gridCol w="2743200"/>
              </a:tblGrid>
              <a:tr h="370840">
                <a:tc>
                  <a:txBody>
                    <a:bodyPr/>
                    <a:lstStyle/>
                    <a:p>
                      <a:r>
                        <a:rPr lang="en-US" dirty="0">
                          <a:latin typeface="Times New Roman" pitchFamily="18" charset="0"/>
                          <a:cs typeface="Times New Roman" pitchFamily="18" charset="0"/>
                        </a:rPr>
                        <a:t>Year</a:t>
                      </a:r>
                    </a:p>
                  </a:txBody>
                  <a:tcPr anchor="ctr"/>
                </a:tc>
                <a:tc>
                  <a:txBody>
                    <a:bodyPr/>
                    <a:lstStyle/>
                    <a:p>
                      <a:r>
                        <a:rPr lang="en-US" dirty="0" smtClean="0">
                          <a:latin typeface="Times New Roman" pitchFamily="18" charset="0"/>
                          <a:cs typeface="Times New Roman" pitchFamily="18" charset="0"/>
                        </a:rPr>
                        <a:t>Title / Author</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Method Used</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Drawbacks</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2018</a:t>
                      </a:r>
                      <a:endParaRPr lang="en-US" dirty="0">
                        <a:latin typeface="Times New Roman" pitchFamily="18" charset="0"/>
                        <a:cs typeface="Times New Roman" pitchFamily="18" charset="0"/>
                      </a:endParaRPr>
                    </a:p>
                  </a:txBody>
                  <a:tcPr/>
                </a:tc>
                <a:tc>
                  <a:txBody>
                    <a:bodyPr/>
                    <a:lstStyle/>
                    <a:p>
                      <a:r>
                        <a:rPr lang="en-US" dirty="0" err="1" smtClean="0">
                          <a:latin typeface="Times New Roman" pitchFamily="18" charset="0"/>
                          <a:cs typeface="Times New Roman" pitchFamily="18" charset="0"/>
                        </a:rPr>
                        <a:t>Margala</a:t>
                      </a:r>
                      <a:r>
                        <a:rPr lang="en-US" dirty="0" smtClean="0">
                          <a:latin typeface="Times New Roman" pitchFamily="18" charset="0"/>
                          <a:cs typeface="Times New Roman" pitchFamily="18" charset="0"/>
                        </a:rPr>
                        <a:t> et al. – Low Power Arithmetic Compressor Design</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Low-power compressor circuits</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Focus only on arithmetic, not full Hamming system</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2019</a:t>
                      </a:r>
                      <a:endParaRPr lang="en-US" dirty="0">
                        <a:latin typeface="Times New Roman" pitchFamily="18" charset="0"/>
                        <a:cs typeface="Times New Roman" pitchFamily="18" charset="0"/>
                      </a:endParaRPr>
                    </a:p>
                  </a:txBody>
                  <a:tcPr/>
                </a:tc>
                <a:tc>
                  <a:txBody>
                    <a:bodyPr/>
                    <a:lstStyle/>
                    <a:p>
                      <a:r>
                        <a:rPr lang="en-US" dirty="0" err="1" smtClean="0">
                          <a:latin typeface="Times New Roman" pitchFamily="18" charset="0"/>
                          <a:cs typeface="Times New Roman" pitchFamily="18" charset="0"/>
                        </a:rPr>
                        <a:t>Tongsheng</a:t>
                      </a:r>
                      <a:r>
                        <a:rPr lang="en-US" dirty="0" smtClean="0">
                          <a:latin typeface="Times New Roman" pitchFamily="18" charset="0"/>
                          <a:cs typeface="Times New Roman" pitchFamily="18" charset="0"/>
                        </a:rPr>
                        <a:t> Zhang &amp; </a:t>
                      </a:r>
                      <a:r>
                        <a:rPr lang="en-US" dirty="0" err="1" smtClean="0">
                          <a:latin typeface="Times New Roman" pitchFamily="18" charset="0"/>
                          <a:cs typeface="Times New Roman" pitchFamily="18" charset="0"/>
                        </a:rPr>
                        <a:t>Qun</a:t>
                      </a:r>
                      <a:r>
                        <a:rPr lang="en-US" dirty="0" smtClean="0">
                          <a:latin typeface="Times New Roman" pitchFamily="18" charset="0"/>
                          <a:cs typeface="Times New Roman" pitchFamily="18" charset="0"/>
                        </a:rPr>
                        <a:t> Ding – FPGA Implementation of (15,11) Hamming Code</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FPGA-based Hamming implementation</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High complexity, not optimized for power</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2020</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Liang et al. – Reliability Metrics for Approximate Computing</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ECC-based reliability techniques</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No complete hardware implementation</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2021</a:t>
                      </a:r>
                      <a:endParaRPr lang="en-US" dirty="0">
                        <a:latin typeface="Times New Roman" pitchFamily="18" charset="0"/>
                        <a:cs typeface="Times New Roman" pitchFamily="18" charset="0"/>
                      </a:endParaRPr>
                    </a:p>
                  </a:txBody>
                  <a:tcPr/>
                </a:tc>
                <a:tc>
                  <a:txBody>
                    <a:bodyPr/>
                    <a:lstStyle/>
                    <a:p>
                      <a:r>
                        <a:rPr lang="en-US" dirty="0" err="1" smtClean="0">
                          <a:latin typeface="Times New Roman" pitchFamily="18" charset="0"/>
                          <a:cs typeface="Times New Roman" pitchFamily="18" charset="0"/>
                        </a:rPr>
                        <a:t>Kalaichevi</a:t>
                      </a:r>
                      <a:r>
                        <a:rPr lang="en-US" dirty="0" smtClean="0">
                          <a:latin typeface="Times New Roman" pitchFamily="18" charset="0"/>
                          <a:cs typeface="Times New Roman" pitchFamily="18" charset="0"/>
                        </a:rPr>
                        <a:t> – Design of Hamming Code Encoding and Decoding Parity</a:t>
                      </a:r>
                      <a:r>
                        <a:rPr lang="en-US" baseline="0" dirty="0" smtClean="0">
                          <a:latin typeface="Times New Roman" pitchFamily="18" charset="0"/>
                          <a:cs typeface="Times New Roman" pitchFamily="18" charset="0"/>
                        </a:rPr>
                        <a:t> CRC</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Comparison of parity, CRC, Hamming codes</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Only theoretical, no hardware design</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2024</a:t>
                      </a:r>
                      <a:endParaRPr lang="en-US" dirty="0">
                        <a:latin typeface="Times New Roman" pitchFamily="18" charset="0"/>
                        <a:cs typeface="Times New Roman" pitchFamily="18" charset="0"/>
                      </a:endParaRPr>
                    </a:p>
                  </a:txBody>
                  <a:tcPr/>
                </a:tc>
                <a:tc>
                  <a:txBody>
                    <a:bodyPr/>
                    <a:lstStyle/>
                    <a:p>
                      <a:r>
                        <a:rPr lang="en-US" dirty="0" err="1" smtClean="0">
                          <a:latin typeface="Times New Roman" pitchFamily="18" charset="0"/>
                          <a:cs typeface="Times New Roman" pitchFamily="18" charset="0"/>
                        </a:rPr>
                        <a:t>Simmi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Garg</a:t>
                      </a:r>
                      <a:r>
                        <a:rPr lang="en-US" dirty="0" smtClean="0">
                          <a:latin typeface="Times New Roman" pitchFamily="18" charset="0"/>
                          <a:cs typeface="Times New Roman" pitchFamily="18" charset="0"/>
                        </a:rPr>
                        <a:t> &amp; </a:t>
                      </a:r>
                      <a:r>
                        <a:rPr lang="en-US" dirty="0" err="1" smtClean="0">
                          <a:latin typeface="Times New Roman" pitchFamily="18" charset="0"/>
                          <a:cs typeface="Times New Roman" pitchFamily="18" charset="0"/>
                        </a:rPr>
                        <a:t>Anuj</a:t>
                      </a:r>
                      <a:r>
                        <a:rPr lang="en-US" dirty="0" smtClean="0">
                          <a:latin typeface="Times New Roman" pitchFamily="18" charset="0"/>
                          <a:cs typeface="Times New Roman" pitchFamily="18" charset="0"/>
                        </a:rPr>
                        <a:t> Sharma . – Design of Hamming Code Encoder and Decoder Using Logic</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Clock gating for power reduction</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Still uses irreversible logic, energy loss exists</a:t>
                      </a:r>
                      <a:endParaRPr lang="en-US" dirty="0">
                        <a:latin typeface="Times New Roman" pitchFamily="18" charset="0"/>
                        <a:cs typeface="Times New Roman" pitchFamily="18" charset="0"/>
                      </a:endParaRPr>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b="1" i="1" dirty="0" smtClean="0">
                <a:solidFill>
                  <a:schemeClr val="accent1"/>
                </a:solidFill>
                <a:latin typeface="Times New Roman" panose="02020603050405020304" pitchFamily="18" charset="0"/>
                <a:cs typeface="Times New Roman" panose="02020603050405020304" pitchFamily="18" charset="0"/>
              </a:rPr>
              <a:t>PROBLEM </a:t>
            </a:r>
            <a:r>
              <a:rPr lang="en-US" b="1" i="1" dirty="0" smtClean="0">
                <a:solidFill>
                  <a:schemeClr val="accent1"/>
                </a:solidFill>
                <a:latin typeface="Times New Roman" panose="02020603050405020304" pitchFamily="18" charset="0"/>
                <a:cs typeface="Times New Roman" panose="02020603050405020304" pitchFamily="18" charset="0"/>
              </a:rPr>
              <a:t>IDENTIFICATION &amp; OBJECTIVES</a:t>
            </a:r>
            <a:endParaRPr lang="en-US" dirty="0">
              <a:solidFill>
                <a:schemeClr val="accent1"/>
              </a:solidFill>
            </a:endParaRPr>
          </a:p>
        </p:txBody>
      </p:sp>
      <p:sp>
        <p:nvSpPr>
          <p:cNvPr id="2" name="Content Placeholder 1"/>
          <p:cNvSpPr>
            <a:spLocks noGrp="1"/>
          </p:cNvSpPr>
          <p:nvPr>
            <p:ph idx="1"/>
          </p:nvPr>
        </p:nvSpPr>
        <p:spPr/>
        <p:txBody>
          <a:bodyPr>
            <a:normAutofit lnSpcReduction="10000"/>
          </a:bodyPr>
          <a:lstStyle/>
          <a:p>
            <a:r>
              <a:rPr lang="en-US" sz="2800" b="1" dirty="0" smtClean="0">
                <a:latin typeface="Times New Roman" pitchFamily="18" charset="0"/>
                <a:cs typeface="Times New Roman" pitchFamily="18" charset="0"/>
              </a:rPr>
              <a:t>Problem:</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High power consumption </a:t>
            </a:r>
          </a:p>
          <a:p>
            <a:r>
              <a:rPr lang="en-US" sz="2800" dirty="0" smtClean="0">
                <a:latin typeface="Times New Roman" pitchFamily="18" charset="0"/>
                <a:cs typeface="Times New Roman" pitchFamily="18" charset="0"/>
              </a:rPr>
              <a:t>Continuous clock switching </a:t>
            </a:r>
          </a:p>
          <a:p>
            <a:r>
              <a:rPr lang="en-US" sz="2800" dirty="0" smtClean="0">
                <a:latin typeface="Times New Roman" pitchFamily="18" charset="0"/>
                <a:cs typeface="Times New Roman" pitchFamily="18" charset="0"/>
              </a:rPr>
              <a:t>Energy loss in irreversible logic </a:t>
            </a:r>
          </a:p>
          <a:p>
            <a:r>
              <a:rPr lang="en-US" sz="2800" b="1" dirty="0" smtClean="0">
                <a:latin typeface="Times New Roman" pitchFamily="18" charset="0"/>
                <a:cs typeface="Times New Roman" pitchFamily="18" charset="0"/>
              </a:rPr>
              <a:t>Objectives:</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Reduce power </a:t>
            </a:r>
          </a:p>
          <a:p>
            <a:r>
              <a:rPr lang="en-US" sz="2800" dirty="0" smtClean="0">
                <a:latin typeface="Times New Roman" pitchFamily="18" charset="0"/>
                <a:cs typeface="Times New Roman" pitchFamily="18" charset="0"/>
              </a:rPr>
              <a:t>Reduce delay </a:t>
            </a:r>
          </a:p>
          <a:p>
            <a:r>
              <a:rPr lang="en-US" sz="2800" dirty="0" smtClean="0">
                <a:latin typeface="Times New Roman" pitchFamily="18" charset="0"/>
                <a:cs typeface="Times New Roman" pitchFamily="18" charset="0"/>
              </a:rPr>
              <a:t>Improve efficiency </a:t>
            </a:r>
          </a:p>
          <a:p>
            <a:r>
              <a:rPr lang="en-US" sz="2800" dirty="0" smtClean="0">
                <a:latin typeface="Times New Roman" pitchFamily="18" charset="0"/>
                <a:cs typeface="Times New Roman" pitchFamily="18" charset="0"/>
              </a:rPr>
              <a:t>Design low-power Hamming system </a:t>
            </a:r>
            <a:endParaRPr lang="en-US" sz="28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chemeClr val="accent1"/>
                </a:solidFill>
                <a:latin typeface="Times New Roman" panose="02020603050405020304" pitchFamily="18" charset="0"/>
                <a:cs typeface="Times New Roman" panose="02020603050405020304" pitchFamily="18" charset="0"/>
              </a:rPr>
              <a:t>EXISTING </a:t>
            </a:r>
            <a:r>
              <a:rPr lang="en-US" b="1" i="1" dirty="0" smtClean="0">
                <a:solidFill>
                  <a:schemeClr val="accent1"/>
                </a:solidFill>
                <a:latin typeface="Times New Roman" panose="02020603050405020304" pitchFamily="18" charset="0"/>
                <a:cs typeface="Times New Roman" panose="02020603050405020304" pitchFamily="18" charset="0"/>
              </a:rPr>
              <a:t>METHODS</a:t>
            </a:r>
            <a:endParaRPr lang="en-US" dirty="0">
              <a:solidFill>
                <a:schemeClr val="accent1"/>
              </a:solidFill>
            </a:endParaRPr>
          </a:p>
        </p:txBody>
      </p:sp>
      <p:pic>
        <p:nvPicPr>
          <p:cNvPr id="2050" name="Picture 2"/>
          <p:cNvPicPr>
            <a:picLocks noGrp="1" noChangeAspect="1" noChangeArrowheads="1"/>
          </p:cNvPicPr>
          <p:nvPr>
            <p:ph idx="1"/>
          </p:nvPr>
        </p:nvPicPr>
        <p:blipFill>
          <a:blip r:embed="rId2" cstate="print"/>
          <a:stretch>
            <a:fillRect/>
          </a:stretch>
        </p:blipFill>
        <p:spPr bwMode="auto">
          <a:xfrm>
            <a:off x="2985653" y="2091284"/>
            <a:ext cx="6220694" cy="3543795"/>
          </a:xfrm>
          <a:prstGeom prst="rect">
            <a:avLst/>
          </a:prstGeom>
          <a:noFill/>
          <a:ln w="9525">
            <a:noFill/>
            <a:miter lim="800000"/>
            <a:headEnd/>
            <a:tailEnd/>
          </a:ln>
          <a:effectLst/>
        </p:spPr>
      </p:pic>
      <p:sp>
        <p:nvSpPr>
          <p:cNvPr id="5" name="TextBox 4"/>
          <p:cNvSpPr txBox="1"/>
          <p:nvPr/>
        </p:nvSpPr>
        <p:spPr>
          <a:xfrm>
            <a:off x="153022" y="3742950"/>
            <a:ext cx="1893467" cy="707886"/>
          </a:xfrm>
          <a:prstGeom prst="rect">
            <a:avLst/>
          </a:prstGeom>
          <a:noFill/>
        </p:spPr>
        <p:txBody>
          <a:bodyPr wrap="none" rtlCol="0">
            <a:spAutoFit/>
          </a:bodyPr>
          <a:lstStyle/>
          <a:p>
            <a:r>
              <a:rPr lang="en-IN" sz="4000" dirty="0" smtClean="0">
                <a:solidFill>
                  <a:schemeClr val="accent1"/>
                </a:solidFill>
                <a:latin typeface="Times New Roman" pitchFamily="18" charset="0"/>
                <a:cs typeface="Times New Roman" pitchFamily="18" charset="0"/>
              </a:rPr>
              <a:t>Encoder</a:t>
            </a:r>
            <a:endParaRPr lang="en-US" sz="4000" dirty="0">
              <a:solidFill>
                <a:schemeClr val="accent1"/>
              </a:solidFill>
              <a:latin typeface="Times New Roman" pitchFamily="18" charset="0"/>
              <a:cs typeface="Times New Roman" pitchFamily="18" charset="0"/>
            </a:endParaRPr>
          </a:p>
        </p:txBody>
      </p:sp>
      <p:sp>
        <p:nvSpPr>
          <p:cNvPr id="6" name="TextBox 5"/>
          <p:cNvSpPr txBox="1"/>
          <p:nvPr/>
        </p:nvSpPr>
        <p:spPr>
          <a:xfrm>
            <a:off x="1491916" y="1337912"/>
            <a:ext cx="4942379" cy="646331"/>
          </a:xfrm>
          <a:prstGeom prst="rect">
            <a:avLst/>
          </a:prstGeom>
          <a:noFill/>
        </p:spPr>
        <p:txBody>
          <a:bodyPr wrap="none" rtlCol="0">
            <a:spAutoFit/>
          </a:bodyPr>
          <a:lstStyle/>
          <a:p>
            <a:r>
              <a:rPr lang="en-IN" sz="3600" b="1" i="1" dirty="0" smtClean="0">
                <a:solidFill>
                  <a:schemeClr val="accent1"/>
                </a:solidFill>
                <a:latin typeface="Times New Roman" pitchFamily="18" charset="0"/>
                <a:cs typeface="Times New Roman" pitchFamily="18" charset="0"/>
              </a:rPr>
              <a:t>1. Conventional Method</a:t>
            </a:r>
            <a:endParaRPr lang="en-US" sz="3600" b="1" i="1" dirty="0">
              <a:solidFill>
                <a:schemeClr val="accent1"/>
              </a:solidFill>
              <a:latin typeface="Times New Roman" pitchFamily="18" charset="0"/>
              <a:cs typeface="Times New Roman" pitchFamily="18" charset="0"/>
            </a:endParaRPr>
          </a:p>
        </p:txBody>
      </p:sp>
      <p:sp>
        <p:nvSpPr>
          <p:cNvPr id="7" name="Right Arrow 6"/>
          <p:cNvSpPr/>
          <p:nvPr/>
        </p:nvSpPr>
        <p:spPr>
          <a:xfrm>
            <a:off x="2261937" y="4032985"/>
            <a:ext cx="856648" cy="2887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i="1" dirty="0" smtClean="0">
                <a:solidFill>
                  <a:schemeClr val="accent1"/>
                </a:solidFill>
                <a:latin typeface="Times New Roman" pitchFamily="18" charset="0"/>
                <a:cs typeface="Times New Roman" pitchFamily="18" charset="0"/>
              </a:rPr>
              <a:t>ENCODER</a:t>
            </a:r>
            <a:endParaRPr lang="en-US" b="1" i="1" dirty="0">
              <a:solidFill>
                <a:schemeClr val="accent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lvl="0" indent="0" eaLnBrk="0" fontAlgn="base" hangingPunct="0">
              <a:spcBef>
                <a:spcPct val="0"/>
              </a:spcBef>
              <a:spcAft>
                <a:spcPct val="0"/>
              </a:spcAft>
              <a:buFontTx/>
              <a:buChar char="•"/>
            </a:pPr>
            <a:r>
              <a:rPr lang="en-US" altLang="en-US" sz="4000" dirty="0" smtClean="0">
                <a:latin typeface="Times New Roman" panose="02020603050405020304" pitchFamily="18" charset="0"/>
                <a:cs typeface="Times New Roman" panose="02020603050405020304" pitchFamily="18" charset="0"/>
              </a:rPr>
              <a:t>The input is an n-bit data word (shown as 4-bit).</a:t>
            </a:r>
          </a:p>
          <a:p>
            <a:pPr marL="0" lvl="0" indent="0" eaLnBrk="0" fontAlgn="base" hangingPunct="0">
              <a:spcBef>
                <a:spcPct val="0"/>
              </a:spcBef>
              <a:spcAft>
                <a:spcPct val="0"/>
              </a:spcAft>
              <a:buFontTx/>
              <a:buChar char="•"/>
            </a:pPr>
            <a:r>
              <a:rPr lang="en-US" altLang="en-US" sz="4000" dirty="0" smtClean="0">
                <a:latin typeface="Times New Roman" panose="02020603050405020304" pitchFamily="18" charset="0"/>
                <a:cs typeface="Times New Roman" panose="02020603050405020304" pitchFamily="18" charset="0"/>
              </a:rPr>
              <a:t>Some bit positions are reserved for parity bits.</a:t>
            </a:r>
          </a:p>
          <a:p>
            <a:pPr marL="0" lvl="0" indent="0" eaLnBrk="0" fontAlgn="base" hangingPunct="0">
              <a:spcBef>
                <a:spcPct val="0"/>
              </a:spcBef>
              <a:spcAft>
                <a:spcPct val="0"/>
              </a:spcAft>
              <a:buFontTx/>
              <a:buChar char="•"/>
            </a:pPr>
            <a:r>
              <a:rPr lang="en-US" altLang="en-US" sz="4000" dirty="0" smtClean="0">
                <a:latin typeface="Times New Roman" panose="02020603050405020304" pitchFamily="18" charset="0"/>
                <a:cs typeface="Times New Roman" panose="02020603050405020304" pitchFamily="18" charset="0"/>
              </a:rPr>
              <a:t>The XOR gates calculate parity bits.</a:t>
            </a:r>
          </a:p>
          <a:p>
            <a:pPr marL="0" lvl="0" indent="0" eaLnBrk="0" fontAlgn="base" hangingPunct="0">
              <a:spcBef>
                <a:spcPct val="0"/>
              </a:spcBef>
              <a:spcAft>
                <a:spcPct val="0"/>
              </a:spcAft>
              <a:buFontTx/>
              <a:buChar char="•"/>
            </a:pPr>
            <a:r>
              <a:rPr lang="en-US" altLang="en-US" sz="4000" dirty="0" smtClean="0">
                <a:latin typeface="Times New Roman" panose="02020603050405020304" pitchFamily="18" charset="0"/>
                <a:cs typeface="Times New Roman" panose="02020603050405020304" pitchFamily="18" charset="0"/>
              </a:rPr>
              <a:t>Each parity bit checks a specific combination of data bits.</a:t>
            </a:r>
          </a:p>
          <a:p>
            <a:pPr marL="0" lvl="0" indent="0" eaLnBrk="0" fontAlgn="base" hangingPunct="0">
              <a:spcBef>
                <a:spcPct val="0"/>
              </a:spcBef>
              <a:spcAft>
                <a:spcPct val="0"/>
              </a:spcAft>
              <a:buFontTx/>
              <a:buChar char="•"/>
            </a:pPr>
            <a:r>
              <a:rPr lang="en-US" altLang="en-US" sz="4000" dirty="0" smtClean="0">
                <a:latin typeface="Times New Roman" panose="02020603050405020304" pitchFamily="18" charset="0"/>
                <a:cs typeface="Times New Roman" panose="02020603050405020304" pitchFamily="18" charset="0"/>
              </a:rPr>
              <a:t>Finally, data bits and parity bits are combined in proper positions to form the Hamming codeword.</a:t>
            </a:r>
          </a:p>
          <a:p>
            <a:endParaRPr lang="en-US" sz="4000" dirty="0" smtClean="0"/>
          </a:p>
          <a:p>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0255" y="3091009"/>
            <a:ext cx="2448942" cy="1143000"/>
          </a:xfrm>
        </p:spPr>
        <p:txBody>
          <a:bodyPr>
            <a:normAutofit/>
          </a:bodyPr>
          <a:lstStyle/>
          <a:p>
            <a:r>
              <a:rPr lang="en-US" sz="4000" dirty="0" smtClean="0">
                <a:solidFill>
                  <a:schemeClr val="accent1"/>
                </a:solidFill>
                <a:latin typeface="Times New Roman" panose="02020603050405020304" pitchFamily="18" charset="0"/>
                <a:cs typeface="Times New Roman" panose="02020603050405020304" pitchFamily="18" charset="0"/>
              </a:rPr>
              <a:t>Decoder</a:t>
            </a:r>
            <a:endParaRPr lang="en-US" sz="4000" dirty="0">
              <a:solidFill>
                <a:schemeClr val="accent1"/>
              </a:solidFill>
            </a:endParaRPr>
          </a:p>
        </p:txBody>
      </p:sp>
      <p:pic>
        <p:nvPicPr>
          <p:cNvPr id="1026" name="Picture 2"/>
          <p:cNvPicPr>
            <a:picLocks noGrp="1" noChangeAspect="1" noChangeArrowheads="1"/>
          </p:cNvPicPr>
          <p:nvPr>
            <p:ph idx="1"/>
          </p:nvPr>
        </p:nvPicPr>
        <p:blipFill>
          <a:blip r:embed="rId2" cstate="print"/>
          <a:srcRect/>
          <a:stretch>
            <a:fillRect/>
          </a:stretch>
        </p:blipFill>
        <p:spPr bwMode="auto">
          <a:xfrm>
            <a:off x="3693287" y="1446196"/>
            <a:ext cx="8498713" cy="4525963"/>
          </a:xfrm>
          <a:prstGeom prst="rect">
            <a:avLst/>
          </a:prstGeom>
          <a:noFill/>
          <a:ln w="9525">
            <a:noFill/>
            <a:miter lim="800000"/>
            <a:headEnd/>
            <a:tailEnd/>
          </a:ln>
          <a:effectLst/>
        </p:spPr>
      </p:pic>
      <p:sp>
        <p:nvSpPr>
          <p:cNvPr id="4" name="Right Arrow 3"/>
          <p:cNvSpPr/>
          <p:nvPr/>
        </p:nvSpPr>
        <p:spPr>
          <a:xfrm>
            <a:off x="2367815" y="3570973"/>
            <a:ext cx="827772" cy="3176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i="1" dirty="0" smtClean="0">
                <a:solidFill>
                  <a:schemeClr val="accent1"/>
                </a:solidFill>
                <a:latin typeface="Times New Roman" pitchFamily="18" charset="0"/>
                <a:cs typeface="Times New Roman" pitchFamily="18" charset="0"/>
              </a:rPr>
              <a:t>DECODER</a:t>
            </a:r>
            <a:endParaRPr lang="en-US" b="1" i="1" dirty="0">
              <a:solidFill>
                <a:schemeClr val="accent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0" lvl="0" indent="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The received Hamming code is given as input.</a:t>
            </a:r>
          </a:p>
          <a:p>
            <a:pPr marL="0" lvl="0" indent="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Checker bit generator (XOR gates) recalculates parity.</a:t>
            </a:r>
          </a:p>
          <a:p>
            <a:pPr marL="0" lvl="0" indent="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The outputs of XOR gates form a syndrome.</a:t>
            </a:r>
          </a:p>
          <a:p>
            <a:pPr marL="0" lvl="0" indent="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The syndrome value indicates:</a:t>
            </a:r>
          </a:p>
          <a:p>
            <a:pPr marL="0" lvl="0" indent="0" eaLnBrk="0" fontAlgn="base" hangingPunct="0">
              <a:spcBef>
                <a:spcPct val="0"/>
              </a:spcBef>
              <a:spcAft>
                <a:spcPct val="0"/>
              </a:spcAft>
              <a:buNone/>
            </a:pPr>
            <a:r>
              <a:rPr lang="en-US" altLang="en-US" dirty="0">
                <a:latin typeface="Times New Roman" panose="02020603050405020304" pitchFamily="18" charset="0"/>
                <a:cs typeface="Times New Roman" panose="02020603050405020304" pitchFamily="18" charset="0"/>
              </a:rPr>
              <a:t>              syndrome = 0(No error)</a:t>
            </a:r>
          </a:p>
          <a:p>
            <a:pPr marL="0" lvl="0" indent="0" eaLnBrk="0" fontAlgn="base" hangingPunct="0">
              <a:spcBef>
                <a:spcPct val="0"/>
              </a:spcBef>
              <a:spcAft>
                <a:spcPct val="0"/>
              </a:spcAft>
              <a:buNone/>
            </a:pPr>
            <a:r>
              <a:rPr lang="en-US" altLang="en-US" dirty="0">
                <a:latin typeface="Times New Roman" panose="02020603050405020304" pitchFamily="18" charset="0"/>
                <a:cs typeface="Times New Roman" panose="02020603050405020304" pitchFamily="18" charset="0"/>
              </a:rPr>
              <a:t>              syndrome </a:t>
            </a:r>
            <a:r>
              <a:rPr lang="en-US" dirty="0">
                <a:latin typeface="Times New Roman" panose="02020603050405020304" pitchFamily="18" charset="0"/>
                <a:cs typeface="Times New Roman" panose="02020603050405020304" pitchFamily="18" charset="0"/>
              </a:rPr>
              <a:t>≠ 0</a:t>
            </a:r>
            <a:r>
              <a:rPr lang="en-US" altLang="en-US" dirty="0">
                <a:latin typeface="Times New Roman" panose="02020603050405020304" pitchFamily="18" charset="0"/>
                <a:cs typeface="Times New Roman" panose="02020603050405020304" pitchFamily="18" charset="0"/>
              </a:rPr>
              <a:t> Error</a:t>
            </a:r>
          </a:p>
          <a:p>
            <a:pPr marL="0" lvl="0" indent="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A decoder (like 3-to-8 decoder) identifies the faulty bit.</a:t>
            </a:r>
          </a:p>
          <a:p>
            <a:pPr marL="0" lvl="0" indent="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That bit is corrected by flipping it.</a:t>
            </a:r>
          </a:p>
          <a:p>
            <a:pPr marL="0" lvl="0" indent="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Corrected data bits are sent to the output.</a:t>
            </a:r>
          </a:p>
          <a:p>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chemeClr val="accent1"/>
                </a:solidFill>
                <a:latin typeface="Times New Roman" pitchFamily="18" charset="0"/>
                <a:cs typeface="Times New Roman" pitchFamily="18" charset="0"/>
              </a:rPr>
              <a:t>DRAWBACKS</a:t>
            </a:r>
            <a:endParaRPr lang="en-US" dirty="0">
              <a:solidFill>
                <a:schemeClr val="accent1"/>
              </a:solidFill>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High dynamic power </a:t>
            </a:r>
          </a:p>
          <a:p>
            <a:r>
              <a:rPr lang="en-US" dirty="0" smtClean="0">
                <a:latin typeface="Times New Roman" pitchFamily="18" charset="0"/>
                <a:cs typeface="Times New Roman" pitchFamily="18" charset="0"/>
              </a:rPr>
              <a:t>Continuous switching </a:t>
            </a:r>
          </a:p>
          <a:p>
            <a:r>
              <a:rPr lang="en-US" dirty="0" smtClean="0">
                <a:latin typeface="Times New Roman" pitchFamily="18" charset="0"/>
                <a:cs typeface="Times New Roman" pitchFamily="18" charset="0"/>
              </a:rPr>
              <a:t>Heat generation </a:t>
            </a:r>
          </a:p>
          <a:p>
            <a:r>
              <a:rPr lang="en-US" dirty="0" smtClean="0">
                <a:latin typeface="Times New Roman" pitchFamily="18" charset="0"/>
                <a:cs typeface="Times New Roman" pitchFamily="18" charset="0"/>
              </a:rPr>
              <a:t>No power optimization </a:t>
            </a:r>
          </a:p>
          <a:p>
            <a:r>
              <a:rPr lang="en-US" dirty="0" smtClean="0">
                <a:latin typeface="Times New Roman" pitchFamily="18" charset="0"/>
                <a:cs typeface="Times New Roman" pitchFamily="18" charset="0"/>
              </a:rPr>
              <a:t>Not suitable for low-power VLSI </a:t>
            </a:r>
            <a:endParaRPr lang="en-US"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0349" y="202131"/>
            <a:ext cx="10972800" cy="827773"/>
          </a:xfrm>
        </p:spPr>
        <p:txBody>
          <a:bodyPr/>
          <a:lstStyle/>
          <a:p>
            <a:r>
              <a:rPr lang="en-IN" b="1" i="1" dirty="0" smtClean="0">
                <a:solidFill>
                  <a:schemeClr val="accent1"/>
                </a:solidFill>
                <a:latin typeface="Times New Roman" pitchFamily="18" charset="0"/>
                <a:cs typeface="Times New Roman" pitchFamily="18" charset="0"/>
              </a:rPr>
              <a:t>PROPOSED METHOD</a:t>
            </a:r>
            <a:endParaRPr lang="en-US" b="1" i="1" dirty="0">
              <a:solidFill>
                <a:schemeClr val="accent1"/>
              </a:solidFill>
              <a:latin typeface="Times New Roman" pitchFamily="18" charset="0"/>
              <a:cs typeface="Times New Roman" pitchFamily="18" charset="0"/>
            </a:endParaRPr>
          </a:p>
        </p:txBody>
      </p:sp>
      <p:pic>
        <p:nvPicPr>
          <p:cNvPr id="5122" name="Picture 2"/>
          <p:cNvPicPr>
            <a:picLocks noGrp="1" noChangeAspect="1" noChangeArrowheads="1"/>
          </p:cNvPicPr>
          <p:nvPr>
            <p:ph idx="1"/>
          </p:nvPr>
        </p:nvPicPr>
        <p:blipFill>
          <a:blip r:embed="rId2" cstate="print"/>
          <a:srcRect/>
          <a:stretch>
            <a:fillRect/>
          </a:stretch>
        </p:blipFill>
        <p:spPr bwMode="auto">
          <a:xfrm>
            <a:off x="684101" y="2473692"/>
            <a:ext cx="5212846" cy="4100339"/>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cstate="print"/>
          <a:srcRect t="1048"/>
          <a:stretch>
            <a:fillRect/>
          </a:stretch>
        </p:blipFill>
        <p:spPr bwMode="auto">
          <a:xfrm>
            <a:off x="6457962" y="2435193"/>
            <a:ext cx="5206125" cy="4119612"/>
          </a:xfrm>
          <a:prstGeom prst="rect">
            <a:avLst/>
          </a:prstGeom>
          <a:noFill/>
          <a:ln w="9525">
            <a:noFill/>
            <a:miter lim="800000"/>
            <a:headEnd/>
            <a:tailEnd/>
          </a:ln>
          <a:effectLst/>
        </p:spPr>
      </p:pic>
      <p:sp>
        <p:nvSpPr>
          <p:cNvPr id="6" name="TextBox 5"/>
          <p:cNvSpPr txBox="1"/>
          <p:nvPr/>
        </p:nvSpPr>
        <p:spPr>
          <a:xfrm>
            <a:off x="698618" y="1903936"/>
            <a:ext cx="1380506" cy="523220"/>
          </a:xfrm>
          <a:prstGeom prst="rect">
            <a:avLst/>
          </a:prstGeom>
          <a:noFill/>
        </p:spPr>
        <p:txBody>
          <a:bodyPr wrap="none" rtlCol="0">
            <a:spAutoFit/>
          </a:bodyPr>
          <a:lstStyle/>
          <a:p>
            <a:r>
              <a:rPr lang="en-IN" sz="2800" dirty="0" smtClean="0">
                <a:solidFill>
                  <a:schemeClr val="accent1"/>
                </a:solidFill>
                <a:latin typeface="Times New Roman" pitchFamily="18" charset="0"/>
                <a:cs typeface="Times New Roman" pitchFamily="18" charset="0"/>
              </a:rPr>
              <a:t>Encoder</a:t>
            </a:r>
            <a:endParaRPr lang="en-US" sz="2800" dirty="0">
              <a:solidFill>
                <a:schemeClr val="accent1"/>
              </a:solidFill>
              <a:latin typeface="Times New Roman" pitchFamily="18" charset="0"/>
              <a:cs typeface="Times New Roman" pitchFamily="18" charset="0"/>
            </a:endParaRPr>
          </a:p>
        </p:txBody>
      </p:sp>
      <p:sp>
        <p:nvSpPr>
          <p:cNvPr id="7" name="TextBox 6"/>
          <p:cNvSpPr txBox="1"/>
          <p:nvPr/>
        </p:nvSpPr>
        <p:spPr>
          <a:xfrm>
            <a:off x="6397459" y="1766236"/>
            <a:ext cx="1399742" cy="523220"/>
          </a:xfrm>
          <a:prstGeom prst="rect">
            <a:avLst/>
          </a:prstGeom>
          <a:noFill/>
        </p:spPr>
        <p:txBody>
          <a:bodyPr wrap="none" rtlCol="0">
            <a:spAutoFit/>
          </a:bodyPr>
          <a:lstStyle/>
          <a:p>
            <a:r>
              <a:rPr lang="en-IN" sz="2800" dirty="0" smtClean="0">
                <a:solidFill>
                  <a:schemeClr val="accent1"/>
                </a:solidFill>
                <a:latin typeface="Times New Roman" pitchFamily="18" charset="0"/>
                <a:cs typeface="Times New Roman" pitchFamily="18" charset="0"/>
              </a:rPr>
              <a:t>Decoder</a:t>
            </a:r>
            <a:endParaRPr lang="en-US" sz="2800" dirty="0">
              <a:solidFill>
                <a:schemeClr val="accent1"/>
              </a:solidFill>
              <a:latin typeface="Times New Roman" pitchFamily="18" charset="0"/>
              <a:cs typeface="Times New Roman" pitchFamily="18" charset="0"/>
            </a:endParaRPr>
          </a:p>
        </p:txBody>
      </p:sp>
      <p:sp>
        <p:nvSpPr>
          <p:cNvPr id="8" name="TextBox 7"/>
          <p:cNvSpPr txBox="1"/>
          <p:nvPr/>
        </p:nvSpPr>
        <p:spPr>
          <a:xfrm>
            <a:off x="818147" y="1049154"/>
            <a:ext cx="3480440" cy="646331"/>
          </a:xfrm>
          <a:prstGeom prst="rect">
            <a:avLst/>
          </a:prstGeom>
          <a:noFill/>
        </p:spPr>
        <p:txBody>
          <a:bodyPr wrap="none" rtlCol="0">
            <a:spAutoFit/>
          </a:bodyPr>
          <a:lstStyle/>
          <a:p>
            <a:r>
              <a:rPr lang="en-IN" sz="3600" b="1" i="1" dirty="0" smtClean="0">
                <a:solidFill>
                  <a:schemeClr val="accent1"/>
                </a:solidFill>
                <a:latin typeface="Times New Roman" pitchFamily="18" charset="0"/>
                <a:cs typeface="Times New Roman" pitchFamily="18" charset="0"/>
              </a:rPr>
              <a:t>Reversible Logic</a:t>
            </a:r>
            <a:endParaRPr lang="en-US" sz="3600" b="1" i="1" dirty="0">
              <a:solidFill>
                <a:schemeClr val="accent1"/>
              </a:solidFill>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225" y="736651"/>
            <a:ext cx="10972800" cy="1143000"/>
          </a:xfrm>
        </p:spPr>
        <p:txBody>
          <a:bodyPr/>
          <a:lstStyle/>
          <a:p>
            <a:r>
              <a:rPr lang="en-IN" b="1" i="1" dirty="0" smtClean="0">
                <a:solidFill>
                  <a:schemeClr val="accent1"/>
                </a:solidFill>
                <a:latin typeface="Times New Roman" pitchFamily="18" charset="0"/>
                <a:cs typeface="Times New Roman" pitchFamily="18" charset="0"/>
              </a:rPr>
              <a:t>Internal structure of FG and F2G</a:t>
            </a:r>
            <a:endParaRPr lang="en-US" b="1" i="1" dirty="0">
              <a:solidFill>
                <a:schemeClr val="accent1"/>
              </a:solidFill>
              <a:latin typeface="Times New Roman" pitchFamily="18" charset="0"/>
              <a:cs typeface="Times New Roman" pitchFamily="18" charset="0"/>
            </a:endParaRPr>
          </a:p>
        </p:txBody>
      </p:sp>
      <p:pic>
        <p:nvPicPr>
          <p:cNvPr id="7" name="Content Placeholder 6" descr="FG.png"/>
          <p:cNvPicPr>
            <a:picLocks noGrp="1" noChangeAspect="1"/>
          </p:cNvPicPr>
          <p:nvPr>
            <p:ph sz="half" idx="2"/>
          </p:nvPr>
        </p:nvPicPr>
        <p:blipFill>
          <a:blip r:embed="rId2" cstate="print"/>
          <a:stretch>
            <a:fillRect/>
          </a:stretch>
        </p:blipFill>
        <p:spPr>
          <a:xfrm>
            <a:off x="339816" y="2502568"/>
            <a:ext cx="5579721" cy="3234088"/>
          </a:xfrm>
        </p:spPr>
      </p:pic>
      <p:pic>
        <p:nvPicPr>
          <p:cNvPr id="8" name="Content Placeholder 7" descr="Logic-diagram-of-Double-feynman-Gate8.png"/>
          <p:cNvPicPr>
            <a:picLocks noGrp="1" noChangeAspect="1"/>
          </p:cNvPicPr>
          <p:nvPr>
            <p:ph sz="quarter" idx="4"/>
          </p:nvPr>
        </p:nvPicPr>
        <p:blipFill>
          <a:blip r:embed="rId3" cstate="print"/>
          <a:stretch>
            <a:fillRect/>
          </a:stretch>
        </p:blipFill>
        <p:spPr>
          <a:xfrm>
            <a:off x="6024110" y="2502568"/>
            <a:ext cx="5877787" cy="3224464"/>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220" y="956391"/>
            <a:ext cx="10972800" cy="4525963"/>
          </a:xfrm>
        </p:spPr>
        <p:txBody>
          <a:bodyPr>
            <a:normAutofit fontScale="92500" lnSpcReduction="20000"/>
          </a:bodyPr>
          <a:lstStyle/>
          <a:p>
            <a:r>
              <a:rPr lang="en-US" dirty="0" smtClean="0">
                <a:latin typeface="Times New Roman" pitchFamily="18" charset="0"/>
                <a:cs typeface="Times New Roman" pitchFamily="18" charset="0"/>
              </a:rPr>
              <a:t>The overall architecture consists of interconnected F2G and FG blocks arranged in multiple stages.</a:t>
            </a:r>
          </a:p>
          <a:p>
            <a:r>
              <a:rPr lang="en-US" dirty="0" smtClean="0">
                <a:latin typeface="Times New Roman" pitchFamily="18" charset="0"/>
                <a:cs typeface="Times New Roman" pitchFamily="18" charset="0"/>
              </a:rPr>
              <a:t>Primary inputs (D</a:t>
            </a:r>
            <a:r>
              <a:rPr lang="en-US" sz="2200" dirty="0" smtClean="0">
                <a:latin typeface="Times New Roman" pitchFamily="18" charset="0"/>
                <a:cs typeface="Times New Roman" pitchFamily="18" charset="0"/>
              </a:rPr>
              <a:t>0</a:t>
            </a:r>
            <a:r>
              <a:rPr lang="en-US" dirty="0" smtClean="0">
                <a:latin typeface="Times New Roman" pitchFamily="18" charset="0"/>
                <a:cs typeface="Times New Roman" pitchFamily="18" charset="0"/>
              </a:rPr>
              <a:t>, D</a:t>
            </a:r>
            <a:r>
              <a:rPr lang="en-US" sz="22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D</a:t>
            </a:r>
            <a:r>
              <a:rPr lang="en-US" sz="19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D</a:t>
            </a:r>
            <a:r>
              <a:rPr lang="en-US" sz="2200" dirty="0" smtClean="0">
                <a:latin typeface="Times New Roman" pitchFamily="18" charset="0"/>
                <a:cs typeface="Times New Roman" pitchFamily="18" charset="0"/>
              </a:rPr>
              <a:t>3</a:t>
            </a:r>
            <a:r>
              <a:rPr lang="en-US" dirty="0" smtClean="0">
                <a:latin typeface="Times New Roman" pitchFamily="18" charset="0"/>
                <a:cs typeface="Times New Roman" pitchFamily="18" charset="0"/>
              </a:rPr>
              <a:t>, P1, P2, P4, etc.) are first processed by F2G blocks to generate intermediate logic signals.</a:t>
            </a:r>
          </a:p>
          <a:p>
            <a:r>
              <a:rPr lang="en-US" dirty="0" smtClean="0">
                <a:latin typeface="Times New Roman" pitchFamily="18" charset="0"/>
                <a:cs typeface="Times New Roman" pitchFamily="18" charset="0"/>
              </a:rPr>
              <a:t>These intermediate signals are routed through the system and combined using FG blocks.</a:t>
            </a:r>
          </a:p>
          <a:p>
            <a:r>
              <a:rPr lang="en-US" dirty="0" smtClean="0">
                <a:latin typeface="Times New Roman" pitchFamily="18" charset="0"/>
                <a:cs typeface="Times New Roman" pitchFamily="18" charset="0"/>
              </a:rPr>
              <a:t>Cascaded FG blocks (g₀, g₁, g₂, g₃) allow the system to build complex logic functions step-by-step.</a:t>
            </a:r>
          </a:p>
          <a:p>
            <a:r>
              <a:rPr lang="en-US" dirty="0" smtClean="0">
                <a:latin typeface="Times New Roman" pitchFamily="18" charset="0"/>
                <a:cs typeface="Times New Roman" pitchFamily="18" charset="0"/>
              </a:rPr>
              <a:t>The final outputs (C1, C2, C4) represent the computed results of the overall logic operation.</a:t>
            </a:r>
          </a:p>
          <a:p>
            <a:endParaRPr lang="en-US"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chemeClr val="tx2">
                    <a:lumMod val="60000"/>
                    <a:lumOff val="40000"/>
                  </a:schemeClr>
                </a:solidFill>
                <a:latin typeface="Times New Roman" pitchFamily="18" charset="0"/>
                <a:cs typeface="Times New Roman" pitchFamily="18" charset="0"/>
              </a:rPr>
              <a:t>METHODOLOGY</a:t>
            </a:r>
            <a:endParaRPr lang="en-US" b="1" i="1" dirty="0">
              <a:solidFill>
                <a:schemeClr val="tx2">
                  <a:lumMod val="60000"/>
                  <a:lumOff val="40000"/>
                </a:schemeClr>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3600" dirty="0" smtClean="0">
                <a:latin typeface="Times New Roman" pitchFamily="18" charset="0"/>
                <a:cs typeface="Times New Roman" pitchFamily="18" charset="0"/>
              </a:rPr>
              <a:t>Step 1: Input data (4 bits)</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Step 2: Generate parity bits</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Step 3: Form codeword</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Step 4: Detect error using syndrome</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Step 5: Correct error</a:t>
            </a:r>
          </a:p>
          <a:p>
            <a:endParaRPr lang="en-US" sz="360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922" y="685185"/>
            <a:ext cx="10972800" cy="1143000"/>
          </a:xfrm>
        </p:spPr>
        <p:txBody>
          <a:bodyPr>
            <a:normAutofit fontScale="90000"/>
          </a:bodyPr>
          <a:lstStyle/>
          <a:p>
            <a:r>
              <a:rPr lang="en-US" b="1" i="1" dirty="0" smtClean="0">
                <a:solidFill>
                  <a:schemeClr val="accent1"/>
                </a:solidFill>
                <a:latin typeface="Times New Roman" panose="02020603050405020304" pitchFamily="18" charset="0"/>
                <a:cs typeface="Times New Roman" panose="02020603050405020304" pitchFamily="18" charset="0"/>
              </a:rPr>
              <a:t>ADVANTAGES &amp; APPLICATIONS</a:t>
            </a:r>
            <a:r>
              <a:rPr lang="en-US" b="1" i="1" dirty="0" smtClean="0">
                <a:solidFill>
                  <a:schemeClr val="accent1"/>
                </a:solidFill>
                <a:latin typeface="Times New Roman" panose="02020603050405020304" pitchFamily="18" charset="0"/>
                <a:cs typeface="Times New Roman" panose="02020603050405020304" pitchFamily="18" charset="0"/>
              </a:rPr>
              <a:t/>
            </a:r>
            <a:br>
              <a:rPr lang="en-US" b="1" i="1" dirty="0" smtClean="0">
                <a:solidFill>
                  <a:schemeClr val="accent1"/>
                </a:solidFill>
                <a:latin typeface="Times New Roman" panose="02020603050405020304" pitchFamily="18" charset="0"/>
                <a:cs typeface="Times New Roman" panose="02020603050405020304" pitchFamily="18" charset="0"/>
              </a:rPr>
            </a:br>
            <a:endParaRPr lang="en-US" dirty="0">
              <a:solidFill>
                <a:schemeClr val="accent1"/>
              </a:solidFill>
            </a:endParaRPr>
          </a:p>
        </p:txBody>
      </p:sp>
      <p:sp>
        <p:nvSpPr>
          <p:cNvPr id="3" name="Content Placeholder 2"/>
          <p:cNvSpPr>
            <a:spLocks noGrp="1"/>
          </p:cNvSpPr>
          <p:nvPr>
            <p:ph idx="1"/>
          </p:nvPr>
        </p:nvSpPr>
        <p:spPr/>
        <p:txBody>
          <a:bodyPr>
            <a:normAutofit fontScale="92500" lnSpcReduction="20000"/>
          </a:bodyPr>
          <a:lstStyle/>
          <a:p>
            <a:r>
              <a:rPr lang="en-US" b="1" dirty="0" smtClean="0">
                <a:latin typeface="Times New Roman" pitchFamily="18" charset="0"/>
                <a:cs typeface="Times New Roman" pitchFamily="18" charset="0"/>
              </a:rPr>
              <a:t>Advantages:</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Low power </a:t>
            </a:r>
          </a:p>
          <a:p>
            <a:r>
              <a:rPr lang="en-US" dirty="0" smtClean="0">
                <a:latin typeface="Times New Roman" pitchFamily="18" charset="0"/>
                <a:cs typeface="Times New Roman" pitchFamily="18" charset="0"/>
              </a:rPr>
              <a:t>Less switching </a:t>
            </a:r>
          </a:p>
          <a:p>
            <a:r>
              <a:rPr lang="en-US" dirty="0" smtClean="0">
                <a:latin typeface="Times New Roman" pitchFamily="18" charset="0"/>
                <a:cs typeface="Times New Roman" pitchFamily="18" charset="0"/>
              </a:rPr>
              <a:t>High efficiency </a:t>
            </a:r>
          </a:p>
          <a:p>
            <a:r>
              <a:rPr lang="en-US" dirty="0" smtClean="0">
                <a:latin typeface="Times New Roman" pitchFamily="18" charset="0"/>
                <a:cs typeface="Times New Roman" pitchFamily="18" charset="0"/>
              </a:rPr>
              <a:t>Reduced delay </a:t>
            </a:r>
          </a:p>
          <a:p>
            <a:r>
              <a:rPr lang="en-US" b="1" dirty="0" smtClean="0">
                <a:latin typeface="Times New Roman" pitchFamily="18" charset="0"/>
                <a:cs typeface="Times New Roman" pitchFamily="18" charset="0"/>
              </a:rPr>
              <a:t>Applications:</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Memory systems </a:t>
            </a:r>
          </a:p>
          <a:p>
            <a:r>
              <a:rPr lang="en-US" dirty="0" smtClean="0">
                <a:latin typeface="Times New Roman" pitchFamily="18" charset="0"/>
                <a:cs typeface="Times New Roman" pitchFamily="18" charset="0"/>
              </a:rPr>
              <a:t>Communication </a:t>
            </a:r>
          </a:p>
          <a:p>
            <a:r>
              <a:rPr lang="en-US" dirty="0" smtClean="0">
                <a:latin typeface="Times New Roman" pitchFamily="18" charset="0"/>
                <a:cs typeface="Times New Roman" pitchFamily="18" charset="0"/>
              </a:rPr>
              <a:t>FPGA systems </a:t>
            </a:r>
            <a:endParaRPr lang="en-US"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chemeClr val="tx2">
                    <a:lumMod val="60000"/>
                    <a:lumOff val="40000"/>
                  </a:schemeClr>
                </a:solidFill>
                <a:latin typeface="Times New Roman" pitchFamily="18" charset="0"/>
                <a:cs typeface="Times New Roman" pitchFamily="18" charset="0"/>
              </a:rPr>
              <a:t>IMPLEMENTATION &amp; TOOLS</a:t>
            </a:r>
            <a:endParaRPr lang="en-US" b="1" i="1" dirty="0">
              <a:solidFill>
                <a:schemeClr val="tx2">
                  <a:lumMod val="60000"/>
                  <a:lumOff val="40000"/>
                </a:schemeClr>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r>
              <a:rPr lang="en-US" dirty="0" smtClean="0">
                <a:latin typeface="Times New Roman" pitchFamily="18" charset="0"/>
                <a:cs typeface="Times New Roman" pitchFamily="18" charset="0"/>
              </a:rPr>
              <a:t>Language: Verilog HDL </a:t>
            </a:r>
          </a:p>
          <a:p>
            <a:r>
              <a:rPr lang="en-US" dirty="0" smtClean="0">
                <a:latin typeface="Times New Roman" pitchFamily="18" charset="0"/>
                <a:cs typeface="Times New Roman" pitchFamily="18" charset="0"/>
              </a:rPr>
              <a:t>Tool: Xilinx Vivado </a:t>
            </a:r>
          </a:p>
          <a:p>
            <a:r>
              <a:rPr lang="en-US" dirty="0" smtClean="0">
                <a:latin typeface="Times New Roman" pitchFamily="18" charset="0"/>
                <a:cs typeface="Times New Roman" pitchFamily="18" charset="0"/>
              </a:rPr>
              <a:t>Platform: FPGA </a:t>
            </a:r>
          </a:p>
          <a:p>
            <a:r>
              <a:rPr lang="en-US" dirty="0" smtClean="0">
                <a:latin typeface="Times New Roman" pitchFamily="18" charset="0"/>
                <a:cs typeface="Times New Roman" pitchFamily="18" charset="0"/>
              </a:rPr>
              <a:t>S</a:t>
            </a:r>
            <a:r>
              <a:rPr lang="en-US" dirty="0" smtClean="0">
                <a:latin typeface="Times New Roman" pitchFamily="18" charset="0"/>
                <a:cs typeface="Times New Roman" pitchFamily="18" charset="0"/>
              </a:rPr>
              <a:t>teps</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Coding </a:t>
            </a:r>
          </a:p>
          <a:p>
            <a:r>
              <a:rPr lang="en-US" dirty="0" smtClean="0">
                <a:latin typeface="Times New Roman" pitchFamily="18" charset="0"/>
                <a:cs typeface="Times New Roman" pitchFamily="18" charset="0"/>
              </a:rPr>
              <a:t>Simulation </a:t>
            </a:r>
          </a:p>
          <a:p>
            <a:r>
              <a:rPr lang="en-US" dirty="0" smtClean="0">
                <a:latin typeface="Times New Roman" pitchFamily="18" charset="0"/>
                <a:cs typeface="Times New Roman" pitchFamily="18" charset="0"/>
              </a:rPr>
              <a:t>Synthesis </a:t>
            </a:r>
          </a:p>
          <a:p>
            <a:r>
              <a:rPr lang="en-US" dirty="0" smtClean="0">
                <a:latin typeface="Times New Roman" pitchFamily="18" charset="0"/>
                <a:cs typeface="Times New Roman" pitchFamily="18" charset="0"/>
              </a:rPr>
              <a:t>Implementation </a:t>
            </a:r>
          </a:p>
          <a:p>
            <a:endParaRPr lang="en-US"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47338"/>
          </a:xfrm>
        </p:spPr>
        <p:txBody>
          <a:bodyPr>
            <a:normAutofit fontScale="90000"/>
          </a:bodyPr>
          <a:lstStyle/>
          <a:p>
            <a:r>
              <a:rPr lang="en-US" b="1" i="1" dirty="0" smtClean="0">
                <a:solidFill>
                  <a:schemeClr val="tx2">
                    <a:lumMod val="60000"/>
                    <a:lumOff val="40000"/>
                  </a:schemeClr>
                </a:solidFill>
                <a:latin typeface="Times New Roman" pitchFamily="18" charset="0"/>
                <a:cs typeface="Times New Roman" pitchFamily="18" charset="0"/>
              </a:rPr>
              <a:t>RESULTS</a:t>
            </a:r>
            <a:endParaRPr lang="en-US" b="1" i="1" dirty="0">
              <a:solidFill>
                <a:schemeClr val="tx2">
                  <a:lumMod val="60000"/>
                  <a:lumOff val="40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609600" y="1922929"/>
            <a:ext cx="10972800" cy="4203235"/>
          </a:xfrm>
        </p:spPr>
        <p:txBody>
          <a:bodyPr/>
          <a:lstStyle/>
          <a:p>
            <a:r>
              <a:rPr lang="en-US" dirty="0" smtClean="0">
                <a:latin typeface="Times New Roman" pitchFamily="18" charset="0"/>
                <a:cs typeface="Times New Roman" pitchFamily="18" charset="0"/>
              </a:rPr>
              <a:t>EXISTING ENCODER AND DECODER</a:t>
            </a:r>
          </a:p>
          <a:p>
            <a:endParaRPr lang="en-US" dirty="0">
              <a:latin typeface="Times New Roman" pitchFamily="18" charset="0"/>
              <a:cs typeface="Times New Roman" pitchFamily="18" charset="0"/>
            </a:endParaRPr>
          </a:p>
        </p:txBody>
      </p:sp>
      <p:pic>
        <p:nvPicPr>
          <p:cNvPr id="4" name="Picture 3" descr="E1.tif"/>
          <p:cNvPicPr>
            <a:picLocks noChangeAspect="1"/>
          </p:cNvPicPr>
          <p:nvPr/>
        </p:nvPicPr>
        <p:blipFill>
          <a:blip r:embed="rId2" cstate="print"/>
          <a:srcRect l="12315" t="5278" r="9976" b="56944"/>
          <a:stretch>
            <a:fillRect/>
          </a:stretch>
        </p:blipFill>
        <p:spPr>
          <a:xfrm>
            <a:off x="1018615" y="2714064"/>
            <a:ext cx="8248650" cy="3581400"/>
          </a:xfrm>
          <a:prstGeom prst="rect">
            <a:avLst/>
          </a:prstGeom>
        </p:spPr>
      </p:pic>
      <p:sp>
        <p:nvSpPr>
          <p:cNvPr id="5" name="TextBox 4"/>
          <p:cNvSpPr txBox="1"/>
          <p:nvPr/>
        </p:nvSpPr>
        <p:spPr>
          <a:xfrm>
            <a:off x="1062317" y="1237129"/>
            <a:ext cx="5298245" cy="707886"/>
          </a:xfrm>
          <a:prstGeom prst="rect">
            <a:avLst/>
          </a:prstGeom>
          <a:noFill/>
        </p:spPr>
        <p:txBody>
          <a:bodyPr wrap="none" rtlCol="0">
            <a:spAutoFit/>
          </a:bodyPr>
          <a:lstStyle/>
          <a:p>
            <a:r>
              <a:rPr lang="en-US" sz="4000" dirty="0" smtClean="0">
                <a:latin typeface="Times New Roman" pitchFamily="18" charset="0"/>
                <a:cs typeface="Times New Roman" pitchFamily="18" charset="0"/>
              </a:rPr>
              <a:t>EXISTING METHOD-1</a:t>
            </a:r>
            <a:endParaRPr lang="en-US" sz="40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350" y="609601"/>
            <a:ext cx="11068050" cy="5516564"/>
          </a:xfrm>
        </p:spPr>
        <p:txBody>
          <a:bodyPr/>
          <a:lstStyle/>
          <a:p>
            <a:r>
              <a:rPr lang="en-US" dirty="0" smtClean="0">
                <a:latin typeface="Times New Roman" pitchFamily="18" charset="0"/>
                <a:cs typeface="Times New Roman" pitchFamily="18" charset="0"/>
              </a:rPr>
              <a:t>EXISTING CORRECTION BLOCK</a:t>
            </a:r>
            <a:endParaRPr lang="en-US" dirty="0">
              <a:latin typeface="Times New Roman" pitchFamily="18" charset="0"/>
              <a:cs typeface="Times New Roman" pitchFamily="18" charset="0"/>
            </a:endParaRPr>
          </a:p>
        </p:txBody>
      </p:sp>
      <p:pic>
        <p:nvPicPr>
          <p:cNvPr id="4" name="Picture 3" descr="EC.tif"/>
          <p:cNvPicPr>
            <a:picLocks noChangeAspect="1"/>
          </p:cNvPicPr>
          <p:nvPr/>
        </p:nvPicPr>
        <p:blipFill>
          <a:blip r:embed="rId2" cstate="print"/>
          <a:srcRect l="18293" t="8889" r="16213" b="49444"/>
          <a:stretch>
            <a:fillRect/>
          </a:stretch>
        </p:blipFill>
        <p:spPr>
          <a:xfrm>
            <a:off x="1200150" y="1428750"/>
            <a:ext cx="8782050" cy="4648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551328"/>
            <a:ext cx="6019800" cy="866309"/>
          </a:xfrm>
        </p:spPr>
        <p:txBody>
          <a:bodyPr/>
          <a:lstStyle/>
          <a:p>
            <a:r>
              <a:rPr lang="en-US" dirty="0" smtClean="0">
                <a:latin typeface="Times New Roman" pitchFamily="18" charset="0"/>
                <a:cs typeface="Times New Roman" pitchFamily="18" charset="0"/>
              </a:rPr>
              <a:t>EXISTING METHOD-2</a:t>
            </a:r>
            <a:endParaRPr lang="en-US" dirty="0">
              <a:latin typeface="Times New Roman" pitchFamily="18" charset="0"/>
              <a:cs typeface="Times New Roman" pitchFamily="18" charset="0"/>
            </a:endParaRPr>
          </a:p>
        </p:txBody>
      </p:sp>
      <p:pic>
        <p:nvPicPr>
          <p:cNvPr id="4" name="Content Placeholder 3" descr="CLOCKKKKKK.tif"/>
          <p:cNvPicPr>
            <a:picLocks noGrp="1" noChangeAspect="1"/>
          </p:cNvPicPr>
          <p:nvPr>
            <p:ph idx="1"/>
          </p:nvPr>
        </p:nvPicPr>
        <p:blipFill>
          <a:blip r:embed="rId2" cstate="print"/>
          <a:srcRect l="17939" t="13073" r="20070" b="48600"/>
          <a:stretch>
            <a:fillRect/>
          </a:stretch>
        </p:blipFill>
        <p:spPr>
          <a:xfrm>
            <a:off x="1089211" y="1788458"/>
            <a:ext cx="8471647" cy="4061012"/>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8150" y="361951"/>
            <a:ext cx="11144250" cy="5764214"/>
          </a:xfrm>
        </p:spPr>
        <p:txBody>
          <a:bodyPr/>
          <a:lstStyle/>
          <a:p>
            <a:r>
              <a:rPr lang="en-US" dirty="0" smtClean="0">
                <a:latin typeface="Times New Roman" pitchFamily="18" charset="0"/>
                <a:cs typeface="Times New Roman" pitchFamily="18" charset="0"/>
              </a:rPr>
              <a:t>PROPOSED ENCODER AND DECODER</a:t>
            </a:r>
            <a:endParaRPr lang="en-US" dirty="0">
              <a:latin typeface="Times New Roman" pitchFamily="18" charset="0"/>
              <a:cs typeface="Times New Roman" pitchFamily="18" charset="0"/>
            </a:endParaRPr>
          </a:p>
        </p:txBody>
      </p:sp>
      <p:pic>
        <p:nvPicPr>
          <p:cNvPr id="4" name="Picture 3" descr="F1.tif"/>
          <p:cNvPicPr>
            <a:picLocks noChangeAspect="1"/>
          </p:cNvPicPr>
          <p:nvPr/>
        </p:nvPicPr>
        <p:blipFill>
          <a:blip r:embed="rId2" cstate="print"/>
          <a:srcRect l="15174" t="11111" r="11275" b="46389"/>
          <a:stretch>
            <a:fillRect/>
          </a:stretch>
        </p:blipFill>
        <p:spPr>
          <a:xfrm>
            <a:off x="838200" y="1409700"/>
            <a:ext cx="9544050" cy="4648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9100" y="361951"/>
            <a:ext cx="11163300" cy="5764214"/>
          </a:xfrm>
        </p:spPr>
        <p:txBody>
          <a:bodyPr/>
          <a:lstStyle/>
          <a:p>
            <a:r>
              <a:rPr lang="en-US" dirty="0" smtClean="0">
                <a:latin typeface="Times New Roman" pitchFamily="18" charset="0"/>
                <a:cs typeface="Times New Roman" pitchFamily="18" charset="0"/>
              </a:rPr>
              <a:t>PROPOSED CORRECTION BLOCK</a:t>
            </a:r>
            <a:endParaRPr lang="en-US" dirty="0">
              <a:latin typeface="Times New Roman" pitchFamily="18" charset="0"/>
              <a:cs typeface="Times New Roman" pitchFamily="18" charset="0"/>
            </a:endParaRPr>
          </a:p>
        </p:txBody>
      </p:sp>
      <p:pic>
        <p:nvPicPr>
          <p:cNvPr id="4" name="Picture 3" descr="FC.tif"/>
          <p:cNvPicPr>
            <a:picLocks noChangeAspect="1"/>
          </p:cNvPicPr>
          <p:nvPr/>
        </p:nvPicPr>
        <p:blipFill>
          <a:blip r:embed="rId2" cstate="print"/>
          <a:srcRect l="18033" t="15833" r="17253" b="44722"/>
          <a:stretch>
            <a:fillRect/>
          </a:stretch>
        </p:blipFill>
        <p:spPr>
          <a:xfrm>
            <a:off x="933450" y="1619250"/>
            <a:ext cx="8991600" cy="39052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chemeClr val="tx2">
                    <a:lumMod val="60000"/>
                    <a:lumOff val="40000"/>
                  </a:schemeClr>
                </a:solidFill>
                <a:latin typeface="Times New Roman" pitchFamily="18" charset="0"/>
                <a:cs typeface="Times New Roman" pitchFamily="18" charset="0"/>
              </a:rPr>
              <a:t>COMPARISON TABLE</a:t>
            </a:r>
            <a:endParaRPr lang="en-US" b="1" i="1" dirty="0">
              <a:solidFill>
                <a:schemeClr val="tx2">
                  <a:lumMod val="60000"/>
                  <a:lumOff val="40000"/>
                </a:schemeClr>
              </a:solidFill>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571500" y="1847850"/>
          <a:ext cx="10972799" cy="4286250"/>
        </p:xfrm>
        <a:graphic>
          <a:graphicData uri="http://schemas.openxmlformats.org/drawingml/2006/table">
            <a:tbl>
              <a:tblPr firstRow="1" bandRow="1">
                <a:tableStyleId>{5C22544A-7EE6-4342-B048-85BDC9FD1C3A}</a:tableStyleId>
              </a:tblPr>
              <a:tblGrid>
                <a:gridCol w="2471126"/>
                <a:gridCol w="2825571"/>
                <a:gridCol w="2825571"/>
                <a:gridCol w="2850531"/>
              </a:tblGrid>
              <a:tr h="857250">
                <a:tc>
                  <a:txBody>
                    <a:bodyPr/>
                    <a:lstStyle/>
                    <a:p>
                      <a:pPr algn="ctr"/>
                      <a:r>
                        <a:rPr lang="en-US" sz="2400" dirty="0" smtClean="0">
                          <a:latin typeface="Times New Roman" pitchFamily="18" charset="0"/>
                          <a:cs typeface="Times New Roman" pitchFamily="18" charset="0"/>
                        </a:rPr>
                        <a:t>PARAMETERS</a:t>
                      </a:r>
                      <a:endParaRPr lang="en-US"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EXISTING</a:t>
                      </a:r>
                      <a:r>
                        <a:rPr lang="en-US" sz="2400" baseline="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METHOD-1</a:t>
                      </a:r>
                      <a:endParaRPr lang="en-US"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EXISTING METHOD-2</a:t>
                      </a:r>
                      <a:endParaRPr lang="en-US"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PROPOSED METHOD</a:t>
                      </a:r>
                      <a:endParaRPr lang="en-US" sz="2400" dirty="0">
                        <a:latin typeface="Times New Roman" pitchFamily="18" charset="0"/>
                        <a:cs typeface="Times New Roman" pitchFamily="18" charset="0"/>
                      </a:endParaRPr>
                    </a:p>
                  </a:txBody>
                  <a:tcPr/>
                </a:tc>
              </a:tr>
              <a:tr h="857250">
                <a:tc>
                  <a:txBody>
                    <a:bodyPr/>
                    <a:lstStyle/>
                    <a:p>
                      <a:pPr algn="ctr"/>
                      <a:r>
                        <a:rPr lang="en-US" sz="2800" dirty="0" smtClean="0">
                          <a:latin typeface="Times New Roman" pitchFamily="18" charset="0"/>
                          <a:cs typeface="Times New Roman" pitchFamily="18" charset="0"/>
                        </a:rPr>
                        <a:t>POWER(W)</a:t>
                      </a:r>
                      <a:endParaRPr lang="en-US" sz="2800" dirty="0">
                        <a:latin typeface="Times New Roman" pitchFamily="18" charset="0"/>
                        <a:cs typeface="Times New Roman" pitchFamily="18" charset="0"/>
                      </a:endParaRPr>
                    </a:p>
                  </a:txBody>
                  <a:tcPr/>
                </a:tc>
                <a:tc>
                  <a:txBody>
                    <a:bodyPr/>
                    <a:lstStyle/>
                    <a:p>
                      <a:pPr algn="ctr"/>
                      <a:r>
                        <a:rPr lang="en-US" sz="2800" dirty="0" smtClean="0">
                          <a:latin typeface="Times New Roman" pitchFamily="18" charset="0"/>
                          <a:cs typeface="Times New Roman" pitchFamily="18" charset="0"/>
                        </a:rPr>
                        <a:t>15.566</a:t>
                      </a:r>
                      <a:endParaRPr lang="en-US" sz="2800" dirty="0">
                        <a:latin typeface="Times New Roman" pitchFamily="18" charset="0"/>
                        <a:cs typeface="Times New Roman" pitchFamily="18" charset="0"/>
                      </a:endParaRPr>
                    </a:p>
                  </a:txBody>
                  <a:tcPr/>
                </a:tc>
                <a:tc>
                  <a:txBody>
                    <a:bodyPr/>
                    <a:lstStyle/>
                    <a:p>
                      <a:pPr algn="ctr"/>
                      <a:r>
                        <a:rPr lang="en-US" sz="2800" dirty="0" smtClean="0">
                          <a:latin typeface="Times New Roman" pitchFamily="18" charset="0"/>
                          <a:cs typeface="Times New Roman" pitchFamily="18" charset="0"/>
                        </a:rPr>
                        <a:t>11.96</a:t>
                      </a:r>
                      <a:endParaRPr lang="en-US" sz="2800" dirty="0">
                        <a:latin typeface="Times New Roman" pitchFamily="18" charset="0"/>
                        <a:cs typeface="Times New Roman" pitchFamily="18" charset="0"/>
                      </a:endParaRPr>
                    </a:p>
                  </a:txBody>
                  <a:tcPr/>
                </a:tc>
                <a:tc>
                  <a:txBody>
                    <a:bodyPr/>
                    <a:lstStyle/>
                    <a:p>
                      <a:pPr algn="ctr"/>
                      <a:r>
                        <a:rPr lang="en-US" sz="2800" dirty="0" smtClean="0">
                          <a:latin typeface="Times New Roman" pitchFamily="18" charset="0"/>
                          <a:cs typeface="Times New Roman" pitchFamily="18" charset="0"/>
                        </a:rPr>
                        <a:t>9.551</a:t>
                      </a:r>
                      <a:endParaRPr lang="en-US" sz="2800" dirty="0">
                        <a:latin typeface="Times New Roman" pitchFamily="18" charset="0"/>
                        <a:cs typeface="Times New Roman" pitchFamily="18" charset="0"/>
                      </a:endParaRPr>
                    </a:p>
                  </a:txBody>
                  <a:tcPr/>
                </a:tc>
              </a:tr>
              <a:tr h="857250">
                <a:tc>
                  <a:txBody>
                    <a:bodyPr/>
                    <a:lstStyle/>
                    <a:p>
                      <a:pPr algn="ctr"/>
                      <a:r>
                        <a:rPr lang="en-US" sz="2800" dirty="0" smtClean="0">
                          <a:latin typeface="Times New Roman" pitchFamily="18" charset="0"/>
                          <a:cs typeface="Times New Roman" pitchFamily="18" charset="0"/>
                        </a:rPr>
                        <a:t>DELAY(ns)</a:t>
                      </a:r>
                      <a:endParaRPr lang="en-US" sz="2800" dirty="0">
                        <a:latin typeface="Times New Roman" pitchFamily="18" charset="0"/>
                        <a:cs typeface="Times New Roman" pitchFamily="18" charset="0"/>
                      </a:endParaRPr>
                    </a:p>
                  </a:txBody>
                  <a:tcPr/>
                </a:tc>
                <a:tc>
                  <a:txBody>
                    <a:bodyPr/>
                    <a:lstStyle/>
                    <a:p>
                      <a:pPr algn="ctr"/>
                      <a:r>
                        <a:rPr lang="en-US" sz="2800" dirty="0" smtClean="0">
                          <a:latin typeface="Times New Roman" pitchFamily="18" charset="0"/>
                          <a:cs typeface="Times New Roman" pitchFamily="18" charset="0"/>
                        </a:rPr>
                        <a:t>8.39</a:t>
                      </a:r>
                      <a:endParaRPr lang="en-US" sz="2800" dirty="0">
                        <a:latin typeface="Times New Roman" pitchFamily="18" charset="0"/>
                        <a:cs typeface="Times New Roman" pitchFamily="18" charset="0"/>
                      </a:endParaRPr>
                    </a:p>
                  </a:txBody>
                  <a:tcPr/>
                </a:tc>
                <a:tc>
                  <a:txBody>
                    <a:bodyPr/>
                    <a:lstStyle/>
                    <a:p>
                      <a:pPr algn="ctr"/>
                      <a:r>
                        <a:rPr lang="en-US" sz="2800" dirty="0" smtClean="0">
                          <a:latin typeface="Times New Roman" pitchFamily="18" charset="0"/>
                          <a:cs typeface="Times New Roman" pitchFamily="18" charset="0"/>
                        </a:rPr>
                        <a:t>8.277</a:t>
                      </a:r>
                      <a:endParaRPr lang="en-US" sz="2800" dirty="0">
                        <a:latin typeface="Times New Roman" pitchFamily="18" charset="0"/>
                        <a:cs typeface="Times New Roman" pitchFamily="18" charset="0"/>
                      </a:endParaRPr>
                    </a:p>
                  </a:txBody>
                  <a:tcPr/>
                </a:tc>
                <a:tc>
                  <a:txBody>
                    <a:bodyPr/>
                    <a:lstStyle/>
                    <a:p>
                      <a:pPr algn="ctr"/>
                      <a:r>
                        <a:rPr lang="en-US" sz="2800" dirty="0" smtClean="0">
                          <a:latin typeface="Times New Roman" pitchFamily="18" charset="0"/>
                          <a:cs typeface="Times New Roman" pitchFamily="18" charset="0"/>
                        </a:rPr>
                        <a:t>8.217</a:t>
                      </a:r>
                      <a:endParaRPr lang="en-US" sz="2800" dirty="0">
                        <a:latin typeface="Times New Roman" pitchFamily="18" charset="0"/>
                        <a:cs typeface="Times New Roman" pitchFamily="18" charset="0"/>
                      </a:endParaRPr>
                    </a:p>
                  </a:txBody>
                  <a:tcPr/>
                </a:tc>
              </a:tr>
              <a:tr h="857250">
                <a:tc>
                  <a:txBody>
                    <a:bodyPr/>
                    <a:lstStyle/>
                    <a:p>
                      <a:pPr algn="ctr"/>
                      <a:r>
                        <a:rPr lang="en-US" sz="2800" dirty="0" smtClean="0">
                          <a:latin typeface="Times New Roman" pitchFamily="18" charset="0"/>
                          <a:cs typeface="Times New Roman" pitchFamily="18" charset="0"/>
                        </a:rPr>
                        <a:t>PDP(W. ns)</a:t>
                      </a:r>
                      <a:endParaRPr lang="en-US" sz="2800" dirty="0">
                        <a:latin typeface="Times New Roman" pitchFamily="18" charset="0"/>
                        <a:cs typeface="Times New Roman" pitchFamily="18" charset="0"/>
                      </a:endParaRPr>
                    </a:p>
                  </a:txBody>
                  <a:tcPr/>
                </a:tc>
                <a:tc>
                  <a:txBody>
                    <a:bodyPr/>
                    <a:lstStyle/>
                    <a:p>
                      <a:pPr algn="ctr"/>
                      <a:r>
                        <a:rPr lang="en-US" sz="2800" dirty="0" smtClean="0">
                          <a:latin typeface="Times New Roman" pitchFamily="18" charset="0"/>
                          <a:cs typeface="Times New Roman" pitchFamily="18" charset="0"/>
                        </a:rPr>
                        <a:t>130.56</a:t>
                      </a:r>
                      <a:endParaRPr lang="en-US" sz="2800" dirty="0">
                        <a:latin typeface="Times New Roman" pitchFamily="18" charset="0"/>
                        <a:cs typeface="Times New Roman" pitchFamily="18" charset="0"/>
                      </a:endParaRPr>
                    </a:p>
                  </a:txBody>
                  <a:tcPr/>
                </a:tc>
                <a:tc>
                  <a:txBody>
                    <a:bodyPr/>
                    <a:lstStyle/>
                    <a:p>
                      <a:pPr algn="ctr"/>
                      <a:r>
                        <a:rPr lang="en-US" sz="2800" dirty="0" smtClean="0">
                          <a:latin typeface="Times New Roman" pitchFamily="18" charset="0"/>
                          <a:cs typeface="Times New Roman" pitchFamily="18" charset="0"/>
                        </a:rPr>
                        <a:t>98.99</a:t>
                      </a:r>
                      <a:endParaRPr lang="en-US" sz="2800" dirty="0">
                        <a:latin typeface="Times New Roman" pitchFamily="18" charset="0"/>
                        <a:cs typeface="Times New Roman" pitchFamily="18" charset="0"/>
                      </a:endParaRPr>
                    </a:p>
                  </a:txBody>
                  <a:tcPr/>
                </a:tc>
                <a:tc>
                  <a:txBody>
                    <a:bodyPr/>
                    <a:lstStyle/>
                    <a:p>
                      <a:pPr algn="ctr"/>
                      <a:r>
                        <a:rPr lang="en-US" sz="2800" dirty="0" smtClean="0">
                          <a:latin typeface="Times New Roman" pitchFamily="18" charset="0"/>
                          <a:cs typeface="Times New Roman" pitchFamily="18" charset="0"/>
                        </a:rPr>
                        <a:t>78.49</a:t>
                      </a:r>
                      <a:endParaRPr lang="en-US" sz="2800" dirty="0">
                        <a:latin typeface="Times New Roman" pitchFamily="18" charset="0"/>
                        <a:cs typeface="Times New Roman" pitchFamily="18" charset="0"/>
                      </a:endParaRPr>
                    </a:p>
                  </a:txBody>
                  <a:tcPr/>
                </a:tc>
              </a:tr>
              <a:tr h="857250">
                <a:tc>
                  <a:txBody>
                    <a:bodyPr/>
                    <a:lstStyle/>
                    <a:p>
                      <a:pPr algn="ctr"/>
                      <a:r>
                        <a:rPr lang="en-US" sz="2800" dirty="0" smtClean="0">
                          <a:latin typeface="Times New Roman" pitchFamily="18" charset="0"/>
                          <a:cs typeface="Times New Roman" pitchFamily="18" charset="0"/>
                        </a:rPr>
                        <a:t>EDP</a:t>
                      </a:r>
                      <a:r>
                        <a:rPr lang="en-US" sz="2800" kern="1200" dirty="0" smtClean="0">
                          <a:solidFill>
                            <a:schemeClr val="dk1"/>
                          </a:solidFill>
                          <a:latin typeface="Times New Roman" pitchFamily="18" charset="0"/>
                          <a:ea typeface="+mn-ea"/>
                          <a:cs typeface="Times New Roman" pitchFamily="18" charset="0"/>
                        </a:rPr>
                        <a:t>(W. ns</a:t>
                      </a:r>
                      <a:r>
                        <a:rPr lang="en-US" sz="2800" kern="1200" baseline="30000" dirty="0" smtClean="0">
                          <a:solidFill>
                            <a:schemeClr val="dk1"/>
                          </a:solidFill>
                          <a:latin typeface="Times New Roman" pitchFamily="18" charset="0"/>
                          <a:ea typeface="+mn-ea"/>
                          <a:cs typeface="Times New Roman" pitchFamily="18" charset="0"/>
                        </a:rPr>
                        <a:t>2</a:t>
                      </a:r>
                      <a:r>
                        <a:rPr lang="en-US" sz="2800" kern="1200" dirty="0" smtClean="0">
                          <a:solidFill>
                            <a:schemeClr val="dk1"/>
                          </a:solidFill>
                          <a:latin typeface="Times New Roman" pitchFamily="18" charset="0"/>
                          <a:ea typeface="+mn-ea"/>
                          <a:cs typeface="Times New Roman" pitchFamily="18" charset="0"/>
                        </a:rPr>
                        <a:t>)</a:t>
                      </a:r>
                      <a:endParaRPr lang="en-US" sz="2800" dirty="0">
                        <a:latin typeface="Times New Roman" pitchFamily="18" charset="0"/>
                        <a:cs typeface="Times New Roman" pitchFamily="18" charset="0"/>
                      </a:endParaRPr>
                    </a:p>
                  </a:txBody>
                  <a:tcPr/>
                </a:tc>
                <a:tc>
                  <a:txBody>
                    <a:bodyPr/>
                    <a:lstStyle/>
                    <a:p>
                      <a:pPr algn="ctr"/>
                      <a:r>
                        <a:rPr lang="en-US" sz="2800" dirty="0" smtClean="0">
                          <a:latin typeface="Times New Roman" pitchFamily="18" charset="0"/>
                          <a:cs typeface="Times New Roman" pitchFamily="18" charset="0"/>
                        </a:rPr>
                        <a:t>1095.76</a:t>
                      </a:r>
                      <a:endParaRPr lang="en-US" sz="2800" dirty="0">
                        <a:latin typeface="Times New Roman" pitchFamily="18" charset="0"/>
                        <a:cs typeface="Times New Roman" pitchFamily="18" charset="0"/>
                      </a:endParaRPr>
                    </a:p>
                  </a:txBody>
                  <a:tcPr/>
                </a:tc>
                <a:tc>
                  <a:txBody>
                    <a:bodyPr/>
                    <a:lstStyle/>
                    <a:p>
                      <a:pPr algn="ctr"/>
                      <a:r>
                        <a:rPr lang="en-US" sz="2800" dirty="0" smtClean="0">
                          <a:latin typeface="Times New Roman" pitchFamily="18" charset="0"/>
                          <a:cs typeface="Times New Roman" pitchFamily="18" charset="0"/>
                        </a:rPr>
                        <a:t>819.364</a:t>
                      </a:r>
                      <a:endParaRPr lang="en-US" sz="2800" dirty="0">
                        <a:latin typeface="Times New Roman" pitchFamily="18" charset="0"/>
                        <a:cs typeface="Times New Roman" pitchFamily="18" charset="0"/>
                      </a:endParaRPr>
                    </a:p>
                  </a:txBody>
                  <a:tcPr/>
                </a:tc>
                <a:tc>
                  <a:txBody>
                    <a:bodyPr/>
                    <a:lstStyle/>
                    <a:p>
                      <a:pPr algn="ctr"/>
                      <a:r>
                        <a:rPr lang="en-US" sz="2800" dirty="0" smtClean="0">
                          <a:latin typeface="Times New Roman" pitchFamily="18" charset="0"/>
                          <a:cs typeface="Times New Roman" pitchFamily="18" charset="0"/>
                        </a:rPr>
                        <a:t>644.88</a:t>
                      </a:r>
                      <a:endParaRPr lang="en-US" sz="2800" dirty="0">
                        <a:latin typeface="Times New Roman" pitchFamily="18" charset="0"/>
                        <a:cs typeface="Times New Roman" pitchFamily="18" charset="0"/>
                      </a:endParaRPr>
                    </a:p>
                  </a:txBody>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chemeClr val="tx2">
                    <a:lumMod val="60000"/>
                    <a:lumOff val="40000"/>
                  </a:schemeClr>
                </a:solidFill>
                <a:latin typeface="Times New Roman" pitchFamily="18" charset="0"/>
                <a:cs typeface="Times New Roman" pitchFamily="18" charset="0"/>
              </a:rPr>
              <a:t>FUTURE SCOPE</a:t>
            </a:r>
            <a:endParaRPr lang="en-US" b="1" i="1" dirty="0">
              <a:solidFill>
                <a:schemeClr val="tx2">
                  <a:lumMod val="60000"/>
                  <a:lumOff val="40000"/>
                </a:schemeClr>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3600" dirty="0" smtClean="0">
                <a:latin typeface="Times New Roman" pitchFamily="18" charset="0"/>
                <a:cs typeface="Times New Roman" pitchFamily="18" charset="0"/>
              </a:rPr>
              <a:t>Extend to higher-bit Hamming codes </a:t>
            </a:r>
          </a:p>
          <a:p>
            <a:r>
              <a:rPr lang="en-US" sz="3600" dirty="0" smtClean="0">
                <a:latin typeface="Times New Roman" pitchFamily="18" charset="0"/>
                <a:cs typeface="Times New Roman" pitchFamily="18" charset="0"/>
              </a:rPr>
              <a:t>Use </a:t>
            </a:r>
            <a:r>
              <a:rPr lang="en-US" sz="3600" dirty="0" err="1" smtClean="0">
                <a:latin typeface="Times New Roman" pitchFamily="18" charset="0"/>
                <a:cs typeface="Times New Roman" pitchFamily="18" charset="0"/>
              </a:rPr>
              <a:t>FinFET</a:t>
            </a:r>
            <a:r>
              <a:rPr lang="en-US" sz="3600" dirty="0" smtClean="0">
                <a:latin typeface="Times New Roman" pitchFamily="18" charset="0"/>
                <a:cs typeface="Times New Roman" pitchFamily="18" charset="0"/>
              </a:rPr>
              <a:t> / CNTFET </a:t>
            </a:r>
          </a:p>
          <a:p>
            <a:r>
              <a:rPr lang="en-US" sz="3600" dirty="0" smtClean="0">
                <a:latin typeface="Times New Roman" pitchFamily="18" charset="0"/>
                <a:cs typeface="Times New Roman" pitchFamily="18" charset="0"/>
              </a:rPr>
              <a:t>Apply in ADC systems </a:t>
            </a:r>
          </a:p>
          <a:p>
            <a:r>
              <a:rPr lang="en-US" sz="3600" dirty="0" smtClean="0">
                <a:latin typeface="Times New Roman" pitchFamily="18" charset="0"/>
                <a:cs typeface="Times New Roman" pitchFamily="18" charset="0"/>
              </a:rPr>
              <a:t>Use AI optimization </a:t>
            </a:r>
          </a:p>
          <a:p>
            <a:endParaRPr lang="en-US" sz="36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657" y="2485993"/>
            <a:ext cx="10972800" cy="1143000"/>
          </a:xfrm>
        </p:spPr>
        <p:txBody>
          <a:bodyPr>
            <a:noAutofit/>
          </a:bodyPr>
          <a:lstStyle/>
          <a:p>
            <a:r>
              <a:rPr lang="en-IN" sz="11500" dirty="0" smtClean="0">
                <a:latin typeface="Times New Roman" pitchFamily="18" charset="0"/>
                <a:cs typeface="Times New Roman" pitchFamily="18" charset="0"/>
              </a:rPr>
              <a:t>THANK YOU</a:t>
            </a:r>
            <a:endParaRPr lang="en-US" sz="115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2318</TotalTime>
  <Words>790</Words>
  <Application>Microsoft Office PowerPoint</Application>
  <PresentationFormat>Custom</PresentationFormat>
  <Paragraphs>156</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Slide 1</vt:lpstr>
      <vt:lpstr>ABSTRACT</vt:lpstr>
      <vt:lpstr>INTRODUCTION &amp;SCOPE</vt:lpstr>
      <vt:lpstr>LITERATURE SURVEY</vt:lpstr>
      <vt:lpstr>PROBLEM IDENTIFICATION &amp; OBJECTIVES</vt:lpstr>
      <vt:lpstr>EXISTING METHODS</vt:lpstr>
      <vt:lpstr>ENCODER</vt:lpstr>
      <vt:lpstr>Decoder</vt:lpstr>
      <vt:lpstr>DECODER</vt:lpstr>
      <vt:lpstr>DRAWBACKS</vt:lpstr>
      <vt:lpstr>PROPOSED METHOD</vt:lpstr>
      <vt:lpstr>Internal structure of FG and F2G</vt:lpstr>
      <vt:lpstr>Slide 13</vt:lpstr>
      <vt:lpstr>METHODOLOGY</vt:lpstr>
      <vt:lpstr>ADVANTAGES &amp; APPLICATIONS </vt:lpstr>
      <vt:lpstr>IMPLEMENTATION &amp; TOOLS</vt:lpstr>
      <vt:lpstr>RESULTS</vt:lpstr>
      <vt:lpstr>Slide 18</vt:lpstr>
      <vt:lpstr>EXISTING METHOD-2</vt:lpstr>
      <vt:lpstr>Slide 20</vt:lpstr>
      <vt:lpstr>Slide 21</vt:lpstr>
      <vt:lpstr>COMPARISON TABLE</vt:lpstr>
      <vt:lpstr>FUTURE SCOPE</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bukkesudha3@gmail.com</dc:creator>
  <cp:lastModifiedBy>Sruthi Pola</cp:lastModifiedBy>
  <cp:revision>81</cp:revision>
  <dcterms:created xsi:type="dcterms:W3CDTF">2026-01-24T01:02:21Z</dcterms:created>
  <dcterms:modified xsi:type="dcterms:W3CDTF">2026-04-04T14:34:28Z</dcterms:modified>
</cp:coreProperties>
</file>